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lice" panose="020B0604020202020204" charset="0"/>
      <p:regular r:id="rId12"/>
    </p:embeddedFont>
    <p:embeddedFont>
      <p:font typeface="Alice Bold" panose="020B0604020202020204" charset="0"/>
      <p:regular r:id="rId13"/>
    </p:embeddedFont>
    <p:embeddedFont>
      <p:font typeface="Arimo" panose="020B0604020202020204" charset="0"/>
      <p:regular r:id="rId14"/>
    </p:embeddedFont>
    <p:embeddedFont>
      <p:font typeface="Arimo Bold" panose="020B0604020202020204" charset="0"/>
      <p:regular r:id="rId15"/>
    </p:embeddedFont>
    <p:embeddedFont>
      <p:font typeface="Fraunces Bold" panose="020B0604020202020204" charset="0"/>
      <p:regular r:id="rId16"/>
    </p:embeddedFont>
    <p:embeddedFont>
      <p:font typeface="Lora" pitchFamily="2" charset="0"/>
      <p:regular r:id="rId17"/>
    </p:embeddedFont>
    <p:embeddedFont>
      <p:font typeface="Lora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simplified -&gt; aqi ritu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1F2DE"/>
            </a:solidFill>
            <a:ln w="12700">
              <a:solidFill>
                <a:srgbClr val="000000"/>
              </a:solidFill>
            </a:ln>
          </p:spPr>
          <p:txBody>
            <a:bodyPr/>
            <a:lstStyle/>
            <a:p>
              <a:endParaRPr lang="en-IN"/>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3"/>
              <a:stretch>
                <a:fillRect t="-9222" b="-9222"/>
              </a:stretch>
            </a:blipFill>
          </p:spPr>
          <p:txBody>
            <a:bodyPr/>
            <a:lstStyle/>
            <a:p>
              <a:endParaRPr lang="en-IN"/>
            </a:p>
          </p:txBody>
        </p:sp>
      </p:grpSp>
      <p:sp>
        <p:nvSpPr>
          <p:cNvPr id="6" name="TextBox 6"/>
          <p:cNvSpPr txBox="1"/>
          <p:nvPr/>
        </p:nvSpPr>
        <p:spPr>
          <a:xfrm>
            <a:off x="4300819" y="8574118"/>
            <a:ext cx="11693892" cy="512396"/>
          </a:xfrm>
          <a:prstGeom prst="rect">
            <a:avLst/>
          </a:prstGeom>
        </p:spPr>
        <p:txBody>
          <a:bodyPr lIns="0" tIns="0" rIns="0" bIns="0" rtlCol="0" anchor="t">
            <a:spAutoFit/>
          </a:bodyPr>
          <a:lstStyle/>
          <a:p>
            <a:pPr algn="l">
              <a:lnSpc>
                <a:spcPts val="3979"/>
              </a:lnSpc>
            </a:pPr>
            <a:r>
              <a:rPr lang="en-US" sz="3178">
                <a:solidFill>
                  <a:srgbClr val="233E32"/>
                </a:solidFill>
                <a:latin typeface="Alice Bold"/>
                <a:ea typeface="Alice Bold"/>
                <a:cs typeface="Alice Bold"/>
                <a:sym typeface="Alice Bold"/>
              </a:rPr>
              <a:t>AI-Powered Ayurvedic Prakriti-Satmya Intelligence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EEE1"/>
            </a:solidFill>
            <a:ln w="12700">
              <a:solidFill>
                <a:srgbClr val="000000"/>
              </a:solidFill>
            </a:ln>
          </p:spPr>
          <p:txBody>
            <a:bodyPr/>
            <a:lstStyle/>
            <a:p>
              <a:endParaRPr lang="en-IN"/>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FFA"/>
            </a:solidFill>
            <a:ln w="12700">
              <a:solidFill>
                <a:srgbClr val="000000"/>
              </a:solidFill>
            </a:ln>
          </p:spPr>
          <p:txBody>
            <a:bodyPr/>
            <a:lstStyle/>
            <a:p>
              <a:endParaRPr lang="en-IN"/>
            </a:p>
          </p:txBody>
        </p:sp>
      </p:grpSp>
      <p:sp>
        <p:nvSpPr>
          <p:cNvPr id="6" name="TextBox 6"/>
          <p:cNvSpPr txBox="1"/>
          <p:nvPr/>
        </p:nvSpPr>
        <p:spPr>
          <a:xfrm>
            <a:off x="992238" y="2033292"/>
            <a:ext cx="16303523" cy="1790995"/>
          </a:xfrm>
          <a:prstGeom prst="rect">
            <a:avLst/>
          </a:prstGeom>
        </p:spPr>
        <p:txBody>
          <a:bodyPr lIns="0" tIns="0" rIns="0" bIns="0" rtlCol="0" anchor="t">
            <a:spAutoFit/>
          </a:bodyPr>
          <a:lstStyle/>
          <a:p>
            <a:pPr algn="l">
              <a:lnSpc>
                <a:spcPts val="6937"/>
              </a:lnSpc>
            </a:pPr>
            <a:r>
              <a:rPr lang="en-US" sz="5562" b="1">
                <a:solidFill>
                  <a:srgbClr val="3B4540"/>
                </a:solidFill>
                <a:latin typeface="Fraunces Bold"/>
                <a:ea typeface="Fraunces Bold"/>
                <a:cs typeface="Fraunces Bold"/>
                <a:sym typeface="Fraunces Bold"/>
              </a:rPr>
              <a:t>The Challenge: Need of Ayurvedic Diet and Nutrition Innovations</a:t>
            </a:r>
          </a:p>
        </p:txBody>
      </p:sp>
      <p:sp>
        <p:nvSpPr>
          <p:cNvPr id="7" name="TextBox 7"/>
          <p:cNvSpPr txBox="1"/>
          <p:nvPr/>
        </p:nvSpPr>
        <p:spPr>
          <a:xfrm>
            <a:off x="992238" y="4286545"/>
            <a:ext cx="16303523" cy="1012031"/>
          </a:xfrm>
          <a:prstGeom prst="rect">
            <a:avLst/>
          </a:prstGeom>
        </p:spPr>
        <p:txBody>
          <a:bodyPr lIns="0" tIns="0" rIns="0" bIns="0" rtlCol="0" anchor="t">
            <a:spAutoFit/>
          </a:bodyPr>
          <a:lstStyle/>
          <a:p>
            <a:pPr algn="l">
              <a:lnSpc>
                <a:spcPts val="3562"/>
              </a:lnSpc>
            </a:pPr>
            <a:r>
              <a:rPr lang="en-US" sz="2187">
                <a:solidFill>
                  <a:srgbClr val="405449"/>
                </a:solidFill>
                <a:latin typeface="Arimo"/>
                <a:ea typeface="Arimo"/>
                <a:cs typeface="Arimo"/>
                <a:sym typeface="Arimo"/>
              </a:rPr>
              <a:t>70% of urban Indians suffer from Vikriti (Dosha imbalance), leading to prevalent issues like digestive disorders, lifestyle diseases (diabetes, hypertension), and mental health challenges from aggravated Vata and Pitta.</a:t>
            </a:r>
          </a:p>
        </p:txBody>
      </p:sp>
      <p:grpSp>
        <p:nvGrpSpPr>
          <p:cNvPr id="8" name="Group 8"/>
          <p:cNvGrpSpPr/>
          <p:nvPr/>
        </p:nvGrpSpPr>
        <p:grpSpPr>
          <a:xfrm>
            <a:off x="973188" y="5598471"/>
            <a:ext cx="8048034" cy="2655246"/>
            <a:chOff x="0" y="0"/>
            <a:chExt cx="10730713" cy="3540328"/>
          </a:xfrm>
        </p:grpSpPr>
        <p:sp>
          <p:nvSpPr>
            <p:cNvPr id="9" name="Freeform 9"/>
            <p:cNvSpPr/>
            <p:nvPr/>
          </p:nvSpPr>
          <p:spPr>
            <a:xfrm>
              <a:off x="25400" y="25400"/>
              <a:ext cx="10679938" cy="3489452"/>
            </a:xfrm>
            <a:custGeom>
              <a:avLst/>
              <a:gdLst/>
              <a:ahLst/>
              <a:cxnLst/>
              <a:rect l="l" t="t" r="r" b="b"/>
              <a:pathLst>
                <a:path w="10679938" h="3489452">
                  <a:moveTo>
                    <a:pt x="0" y="243840"/>
                  </a:moveTo>
                  <a:cubicBezTo>
                    <a:pt x="0" y="109220"/>
                    <a:pt x="110236" y="0"/>
                    <a:pt x="246253" y="0"/>
                  </a:cubicBezTo>
                  <a:lnTo>
                    <a:pt x="10433685" y="0"/>
                  </a:lnTo>
                  <a:cubicBezTo>
                    <a:pt x="10569702" y="0"/>
                    <a:pt x="10679938" y="109220"/>
                    <a:pt x="10679938" y="243840"/>
                  </a:cubicBezTo>
                  <a:lnTo>
                    <a:pt x="10679938" y="3245612"/>
                  </a:lnTo>
                  <a:cubicBezTo>
                    <a:pt x="10679938" y="3380232"/>
                    <a:pt x="10569702" y="3489452"/>
                    <a:pt x="10433685" y="3489452"/>
                  </a:cubicBezTo>
                  <a:lnTo>
                    <a:pt x="246253" y="3489452"/>
                  </a:lnTo>
                  <a:cubicBezTo>
                    <a:pt x="110236" y="3489452"/>
                    <a:pt x="0" y="3380232"/>
                    <a:pt x="0" y="3245612"/>
                  </a:cubicBezTo>
                  <a:close/>
                </a:path>
              </a:pathLst>
            </a:custGeom>
            <a:solidFill>
              <a:srgbClr val="FAFFFA"/>
            </a:solidFill>
            <a:ln w="12700">
              <a:solidFill>
                <a:srgbClr val="000000"/>
              </a:solidFill>
            </a:ln>
          </p:spPr>
          <p:txBody>
            <a:bodyPr/>
            <a:lstStyle/>
            <a:p>
              <a:endParaRPr lang="en-IN"/>
            </a:p>
          </p:txBody>
        </p:sp>
        <p:sp>
          <p:nvSpPr>
            <p:cNvPr id="10" name="Freeform 10"/>
            <p:cNvSpPr/>
            <p:nvPr/>
          </p:nvSpPr>
          <p:spPr>
            <a:xfrm>
              <a:off x="0" y="0"/>
              <a:ext cx="10730738" cy="3540252"/>
            </a:xfrm>
            <a:custGeom>
              <a:avLst/>
              <a:gdLst/>
              <a:ahLst/>
              <a:cxnLst/>
              <a:rect l="l" t="t" r="r" b="b"/>
              <a:pathLst>
                <a:path w="10730738" h="3540252">
                  <a:moveTo>
                    <a:pt x="0" y="269240"/>
                  </a:moveTo>
                  <a:cubicBezTo>
                    <a:pt x="0" y="120269"/>
                    <a:pt x="121793" y="0"/>
                    <a:pt x="271653" y="0"/>
                  </a:cubicBezTo>
                  <a:lnTo>
                    <a:pt x="10459085" y="0"/>
                  </a:lnTo>
                  <a:lnTo>
                    <a:pt x="10459085" y="25400"/>
                  </a:lnTo>
                  <a:lnTo>
                    <a:pt x="10459085" y="0"/>
                  </a:lnTo>
                  <a:cubicBezTo>
                    <a:pt x="10608818" y="0"/>
                    <a:pt x="10730738" y="120269"/>
                    <a:pt x="10730738" y="269240"/>
                  </a:cubicBezTo>
                  <a:lnTo>
                    <a:pt x="10705338" y="269240"/>
                  </a:lnTo>
                  <a:lnTo>
                    <a:pt x="10730738" y="269240"/>
                  </a:lnTo>
                  <a:lnTo>
                    <a:pt x="10730738" y="3271012"/>
                  </a:lnTo>
                  <a:lnTo>
                    <a:pt x="10705338" y="3271012"/>
                  </a:lnTo>
                  <a:lnTo>
                    <a:pt x="10730738" y="3271012"/>
                  </a:lnTo>
                  <a:cubicBezTo>
                    <a:pt x="10730738" y="3419983"/>
                    <a:pt x="10608945" y="3540252"/>
                    <a:pt x="10459085" y="3540252"/>
                  </a:cubicBezTo>
                  <a:lnTo>
                    <a:pt x="10459085" y="3514852"/>
                  </a:lnTo>
                  <a:lnTo>
                    <a:pt x="10459085" y="3540252"/>
                  </a:lnTo>
                  <a:lnTo>
                    <a:pt x="271653" y="3540252"/>
                  </a:lnTo>
                  <a:lnTo>
                    <a:pt x="271653" y="3514852"/>
                  </a:lnTo>
                  <a:lnTo>
                    <a:pt x="271653" y="3540252"/>
                  </a:lnTo>
                  <a:cubicBezTo>
                    <a:pt x="121793" y="3540379"/>
                    <a:pt x="0" y="3419983"/>
                    <a:pt x="0" y="3271012"/>
                  </a:cubicBezTo>
                  <a:lnTo>
                    <a:pt x="0" y="269240"/>
                  </a:lnTo>
                  <a:lnTo>
                    <a:pt x="25400" y="269240"/>
                  </a:lnTo>
                  <a:lnTo>
                    <a:pt x="0" y="269240"/>
                  </a:lnTo>
                  <a:moveTo>
                    <a:pt x="50800" y="269240"/>
                  </a:moveTo>
                  <a:lnTo>
                    <a:pt x="50800" y="3271012"/>
                  </a:lnTo>
                  <a:lnTo>
                    <a:pt x="25400" y="3271012"/>
                  </a:lnTo>
                  <a:lnTo>
                    <a:pt x="50800" y="3271012"/>
                  </a:lnTo>
                  <a:cubicBezTo>
                    <a:pt x="50800" y="3391408"/>
                    <a:pt x="149479" y="3489452"/>
                    <a:pt x="271653" y="3489452"/>
                  </a:cubicBezTo>
                  <a:lnTo>
                    <a:pt x="10459085" y="3489452"/>
                  </a:lnTo>
                  <a:cubicBezTo>
                    <a:pt x="10581259" y="3489452"/>
                    <a:pt x="10679938" y="3391408"/>
                    <a:pt x="10679938" y="3271012"/>
                  </a:cubicBezTo>
                  <a:lnTo>
                    <a:pt x="10679938" y="269240"/>
                  </a:lnTo>
                  <a:cubicBezTo>
                    <a:pt x="10679938" y="148844"/>
                    <a:pt x="10581259" y="50800"/>
                    <a:pt x="10459085" y="50800"/>
                  </a:cubicBezTo>
                  <a:lnTo>
                    <a:pt x="271653" y="50800"/>
                  </a:lnTo>
                  <a:lnTo>
                    <a:pt x="271653" y="25400"/>
                  </a:lnTo>
                  <a:lnTo>
                    <a:pt x="271653" y="50800"/>
                  </a:lnTo>
                  <a:cubicBezTo>
                    <a:pt x="149479" y="50800"/>
                    <a:pt x="50800" y="148844"/>
                    <a:pt x="50800" y="269240"/>
                  </a:cubicBezTo>
                  <a:close/>
                </a:path>
              </a:pathLst>
            </a:custGeom>
            <a:solidFill>
              <a:srgbClr val="CED9CE"/>
            </a:solidFill>
            <a:ln w="12700">
              <a:solidFill>
                <a:srgbClr val="000000"/>
              </a:solidFill>
            </a:ln>
          </p:spPr>
          <p:txBody>
            <a:bodyPr/>
            <a:lstStyle/>
            <a:p>
              <a:endParaRPr lang="en-IN"/>
            </a:p>
          </p:txBody>
        </p:sp>
      </p:grpSp>
      <p:grpSp>
        <p:nvGrpSpPr>
          <p:cNvPr id="11" name="Group 11"/>
          <p:cNvGrpSpPr/>
          <p:nvPr/>
        </p:nvGrpSpPr>
        <p:grpSpPr>
          <a:xfrm>
            <a:off x="954138" y="5617521"/>
            <a:ext cx="152400" cy="2617146"/>
            <a:chOff x="0" y="0"/>
            <a:chExt cx="203200" cy="3489528"/>
          </a:xfrm>
        </p:grpSpPr>
        <p:sp>
          <p:nvSpPr>
            <p:cNvPr id="12" name="Freeform 12"/>
            <p:cNvSpPr/>
            <p:nvPr/>
          </p:nvSpPr>
          <p:spPr>
            <a:xfrm>
              <a:off x="0" y="0"/>
              <a:ext cx="203200" cy="3489579"/>
            </a:xfrm>
            <a:custGeom>
              <a:avLst/>
              <a:gdLst/>
              <a:ahLst/>
              <a:cxnLst/>
              <a:rect l="l" t="t" r="r" b="b"/>
              <a:pathLst>
                <a:path w="203200" h="3489579">
                  <a:moveTo>
                    <a:pt x="0" y="101600"/>
                  </a:moveTo>
                  <a:cubicBezTo>
                    <a:pt x="0" y="45466"/>
                    <a:pt x="45466" y="0"/>
                    <a:pt x="101600" y="0"/>
                  </a:cubicBezTo>
                  <a:cubicBezTo>
                    <a:pt x="157734" y="0"/>
                    <a:pt x="203200" y="45466"/>
                    <a:pt x="203200" y="101600"/>
                  </a:cubicBezTo>
                  <a:lnTo>
                    <a:pt x="203200" y="3387979"/>
                  </a:lnTo>
                  <a:cubicBezTo>
                    <a:pt x="203200" y="3444113"/>
                    <a:pt x="157734" y="3489579"/>
                    <a:pt x="101600" y="3489579"/>
                  </a:cubicBezTo>
                  <a:cubicBezTo>
                    <a:pt x="45466" y="3489579"/>
                    <a:pt x="0" y="3444113"/>
                    <a:pt x="0" y="3387979"/>
                  </a:cubicBezTo>
                  <a:close/>
                </a:path>
              </a:pathLst>
            </a:custGeom>
            <a:solidFill>
              <a:srgbClr val="438951"/>
            </a:solidFill>
            <a:ln w="12700">
              <a:solidFill>
                <a:srgbClr val="000000"/>
              </a:solidFill>
            </a:ln>
          </p:spPr>
          <p:txBody>
            <a:bodyPr/>
            <a:lstStyle/>
            <a:p>
              <a:endParaRPr lang="en-IN"/>
            </a:p>
          </p:txBody>
        </p:sp>
      </p:grpSp>
      <p:sp>
        <p:nvSpPr>
          <p:cNvPr id="13" name="TextBox 13"/>
          <p:cNvSpPr txBox="1"/>
          <p:nvPr/>
        </p:nvSpPr>
        <p:spPr>
          <a:xfrm>
            <a:off x="1428159" y="5929608"/>
            <a:ext cx="3544043" cy="452437"/>
          </a:xfrm>
          <a:prstGeom prst="rect">
            <a:avLst/>
          </a:prstGeom>
        </p:spPr>
        <p:txBody>
          <a:bodyPr lIns="0" tIns="0" rIns="0" bIns="0" rtlCol="0" anchor="t">
            <a:spAutoFit/>
          </a:bodyPr>
          <a:lstStyle/>
          <a:p>
            <a:pPr algn="l">
              <a:lnSpc>
                <a:spcPts val="3437"/>
              </a:lnSpc>
            </a:pPr>
            <a:r>
              <a:rPr lang="en-US" sz="2750" b="1">
                <a:solidFill>
                  <a:srgbClr val="405449"/>
                </a:solidFill>
                <a:latin typeface="Fraunces Bold"/>
                <a:ea typeface="Fraunces Bold"/>
                <a:cs typeface="Fraunces Bold"/>
                <a:sym typeface="Fraunces Bold"/>
              </a:rPr>
              <a:t>Problem Statement</a:t>
            </a:r>
          </a:p>
        </p:txBody>
      </p:sp>
      <p:sp>
        <p:nvSpPr>
          <p:cNvPr id="14" name="TextBox 14"/>
          <p:cNvSpPr txBox="1"/>
          <p:nvPr/>
        </p:nvSpPr>
        <p:spPr>
          <a:xfrm>
            <a:off x="1428159" y="6447387"/>
            <a:ext cx="7252392" cy="1012031"/>
          </a:xfrm>
          <a:prstGeom prst="rect">
            <a:avLst/>
          </a:prstGeom>
        </p:spPr>
        <p:txBody>
          <a:bodyPr lIns="0" tIns="0" rIns="0" bIns="0" rtlCol="0" anchor="t">
            <a:spAutoFit/>
          </a:bodyPr>
          <a:lstStyle/>
          <a:p>
            <a:pPr algn="l">
              <a:lnSpc>
                <a:spcPts val="3562"/>
              </a:lnSpc>
            </a:pPr>
            <a:r>
              <a:rPr lang="en-US" sz="2187">
                <a:solidFill>
                  <a:srgbClr val="405449"/>
                </a:solidFill>
                <a:latin typeface="Arimo"/>
                <a:ea typeface="Arimo"/>
                <a:cs typeface="Arimo"/>
                <a:sym typeface="Arimo"/>
              </a:rPr>
              <a:t>Many seek holistic well-being, but applying Ayurvedic principles in daily life can be complex.</a:t>
            </a:r>
          </a:p>
        </p:txBody>
      </p:sp>
      <p:grpSp>
        <p:nvGrpSpPr>
          <p:cNvPr id="15" name="Group 15"/>
          <p:cNvGrpSpPr/>
          <p:nvPr/>
        </p:nvGrpSpPr>
        <p:grpSpPr>
          <a:xfrm>
            <a:off x="9266634" y="5598471"/>
            <a:ext cx="8048177" cy="2655246"/>
            <a:chOff x="0" y="0"/>
            <a:chExt cx="10730903" cy="3540328"/>
          </a:xfrm>
        </p:grpSpPr>
        <p:sp>
          <p:nvSpPr>
            <p:cNvPr id="16" name="Freeform 16"/>
            <p:cNvSpPr/>
            <p:nvPr/>
          </p:nvSpPr>
          <p:spPr>
            <a:xfrm>
              <a:off x="25400" y="25400"/>
              <a:ext cx="10680192" cy="3489452"/>
            </a:xfrm>
            <a:custGeom>
              <a:avLst/>
              <a:gdLst/>
              <a:ahLst/>
              <a:cxnLst/>
              <a:rect l="l" t="t" r="r" b="b"/>
              <a:pathLst>
                <a:path w="10680192" h="3489452">
                  <a:moveTo>
                    <a:pt x="0" y="243840"/>
                  </a:moveTo>
                  <a:cubicBezTo>
                    <a:pt x="0" y="109220"/>
                    <a:pt x="110236" y="0"/>
                    <a:pt x="246253" y="0"/>
                  </a:cubicBezTo>
                  <a:lnTo>
                    <a:pt x="10433939" y="0"/>
                  </a:lnTo>
                  <a:cubicBezTo>
                    <a:pt x="10569956" y="0"/>
                    <a:pt x="10680192" y="109220"/>
                    <a:pt x="10680192" y="243840"/>
                  </a:cubicBezTo>
                  <a:lnTo>
                    <a:pt x="10680192" y="3245612"/>
                  </a:lnTo>
                  <a:cubicBezTo>
                    <a:pt x="10680192" y="3380232"/>
                    <a:pt x="10569956" y="3489452"/>
                    <a:pt x="10433939" y="3489452"/>
                  </a:cubicBezTo>
                  <a:lnTo>
                    <a:pt x="246253" y="3489452"/>
                  </a:lnTo>
                  <a:cubicBezTo>
                    <a:pt x="110236" y="3489452"/>
                    <a:pt x="0" y="3380232"/>
                    <a:pt x="0" y="3245612"/>
                  </a:cubicBezTo>
                  <a:close/>
                </a:path>
              </a:pathLst>
            </a:custGeom>
            <a:solidFill>
              <a:srgbClr val="FAFFFA"/>
            </a:solidFill>
            <a:ln w="12700">
              <a:solidFill>
                <a:srgbClr val="000000"/>
              </a:solidFill>
            </a:ln>
          </p:spPr>
          <p:txBody>
            <a:bodyPr/>
            <a:lstStyle/>
            <a:p>
              <a:endParaRPr lang="en-IN"/>
            </a:p>
          </p:txBody>
        </p:sp>
        <p:sp>
          <p:nvSpPr>
            <p:cNvPr id="17" name="Freeform 17"/>
            <p:cNvSpPr/>
            <p:nvPr/>
          </p:nvSpPr>
          <p:spPr>
            <a:xfrm>
              <a:off x="0" y="0"/>
              <a:ext cx="10730992" cy="3540252"/>
            </a:xfrm>
            <a:custGeom>
              <a:avLst/>
              <a:gdLst/>
              <a:ahLst/>
              <a:cxnLst/>
              <a:rect l="l" t="t" r="r" b="b"/>
              <a:pathLst>
                <a:path w="10730992" h="3540252">
                  <a:moveTo>
                    <a:pt x="0" y="269240"/>
                  </a:moveTo>
                  <a:cubicBezTo>
                    <a:pt x="0" y="120269"/>
                    <a:pt x="121793" y="0"/>
                    <a:pt x="271653" y="0"/>
                  </a:cubicBezTo>
                  <a:lnTo>
                    <a:pt x="10459339" y="0"/>
                  </a:lnTo>
                  <a:lnTo>
                    <a:pt x="10459339" y="25400"/>
                  </a:lnTo>
                  <a:lnTo>
                    <a:pt x="10459339" y="0"/>
                  </a:lnTo>
                  <a:cubicBezTo>
                    <a:pt x="10609072" y="0"/>
                    <a:pt x="10730992" y="120269"/>
                    <a:pt x="10730992" y="269240"/>
                  </a:cubicBezTo>
                  <a:lnTo>
                    <a:pt x="10705592" y="269240"/>
                  </a:lnTo>
                  <a:lnTo>
                    <a:pt x="10730992" y="269240"/>
                  </a:lnTo>
                  <a:lnTo>
                    <a:pt x="10730992" y="3271012"/>
                  </a:lnTo>
                  <a:lnTo>
                    <a:pt x="10705592" y="3271012"/>
                  </a:lnTo>
                  <a:lnTo>
                    <a:pt x="10730992" y="3271012"/>
                  </a:lnTo>
                  <a:cubicBezTo>
                    <a:pt x="10730992" y="3419983"/>
                    <a:pt x="10609199" y="3540252"/>
                    <a:pt x="10459339" y="3540252"/>
                  </a:cubicBezTo>
                  <a:lnTo>
                    <a:pt x="10459339" y="3514852"/>
                  </a:lnTo>
                  <a:lnTo>
                    <a:pt x="10459339" y="3540252"/>
                  </a:lnTo>
                  <a:lnTo>
                    <a:pt x="271653" y="3540252"/>
                  </a:lnTo>
                  <a:lnTo>
                    <a:pt x="271653" y="3514852"/>
                  </a:lnTo>
                  <a:lnTo>
                    <a:pt x="271653" y="3540252"/>
                  </a:lnTo>
                  <a:cubicBezTo>
                    <a:pt x="121793" y="3540379"/>
                    <a:pt x="0" y="3419983"/>
                    <a:pt x="0" y="3271012"/>
                  </a:cubicBezTo>
                  <a:lnTo>
                    <a:pt x="0" y="269240"/>
                  </a:lnTo>
                  <a:lnTo>
                    <a:pt x="25400" y="269240"/>
                  </a:lnTo>
                  <a:lnTo>
                    <a:pt x="0" y="269240"/>
                  </a:lnTo>
                  <a:moveTo>
                    <a:pt x="50800" y="269240"/>
                  </a:moveTo>
                  <a:lnTo>
                    <a:pt x="50800" y="3271012"/>
                  </a:lnTo>
                  <a:lnTo>
                    <a:pt x="25400" y="3271012"/>
                  </a:lnTo>
                  <a:lnTo>
                    <a:pt x="50800" y="3271012"/>
                  </a:lnTo>
                  <a:cubicBezTo>
                    <a:pt x="50800" y="3391408"/>
                    <a:pt x="149479" y="3489452"/>
                    <a:pt x="271653" y="3489452"/>
                  </a:cubicBezTo>
                  <a:lnTo>
                    <a:pt x="10459339" y="3489452"/>
                  </a:lnTo>
                  <a:cubicBezTo>
                    <a:pt x="10581513" y="3489452"/>
                    <a:pt x="10680192" y="3391408"/>
                    <a:pt x="10680192" y="3271012"/>
                  </a:cubicBezTo>
                  <a:lnTo>
                    <a:pt x="10680192" y="269240"/>
                  </a:lnTo>
                  <a:cubicBezTo>
                    <a:pt x="10680192" y="148844"/>
                    <a:pt x="10581513" y="50800"/>
                    <a:pt x="10459339" y="50800"/>
                  </a:cubicBezTo>
                  <a:lnTo>
                    <a:pt x="271653" y="50800"/>
                  </a:lnTo>
                  <a:lnTo>
                    <a:pt x="271653" y="25400"/>
                  </a:lnTo>
                  <a:lnTo>
                    <a:pt x="271653" y="50800"/>
                  </a:lnTo>
                  <a:cubicBezTo>
                    <a:pt x="149479" y="50800"/>
                    <a:pt x="50800" y="148844"/>
                    <a:pt x="50800" y="269240"/>
                  </a:cubicBezTo>
                  <a:close/>
                </a:path>
              </a:pathLst>
            </a:custGeom>
            <a:solidFill>
              <a:srgbClr val="CED9CE"/>
            </a:solidFill>
            <a:ln w="12700">
              <a:solidFill>
                <a:srgbClr val="000000"/>
              </a:solidFill>
            </a:ln>
          </p:spPr>
          <p:txBody>
            <a:bodyPr/>
            <a:lstStyle/>
            <a:p>
              <a:endParaRPr lang="en-IN"/>
            </a:p>
          </p:txBody>
        </p:sp>
      </p:grpSp>
      <p:grpSp>
        <p:nvGrpSpPr>
          <p:cNvPr id="18" name="Group 18"/>
          <p:cNvGrpSpPr/>
          <p:nvPr/>
        </p:nvGrpSpPr>
        <p:grpSpPr>
          <a:xfrm>
            <a:off x="9247584" y="5617521"/>
            <a:ext cx="152400" cy="2617146"/>
            <a:chOff x="0" y="0"/>
            <a:chExt cx="203200" cy="3489528"/>
          </a:xfrm>
        </p:grpSpPr>
        <p:sp>
          <p:nvSpPr>
            <p:cNvPr id="19" name="Freeform 19"/>
            <p:cNvSpPr/>
            <p:nvPr/>
          </p:nvSpPr>
          <p:spPr>
            <a:xfrm>
              <a:off x="0" y="0"/>
              <a:ext cx="203200" cy="3489579"/>
            </a:xfrm>
            <a:custGeom>
              <a:avLst/>
              <a:gdLst/>
              <a:ahLst/>
              <a:cxnLst/>
              <a:rect l="l" t="t" r="r" b="b"/>
              <a:pathLst>
                <a:path w="203200" h="3489579">
                  <a:moveTo>
                    <a:pt x="0" y="101600"/>
                  </a:moveTo>
                  <a:cubicBezTo>
                    <a:pt x="0" y="45466"/>
                    <a:pt x="45466" y="0"/>
                    <a:pt x="101600" y="0"/>
                  </a:cubicBezTo>
                  <a:cubicBezTo>
                    <a:pt x="157734" y="0"/>
                    <a:pt x="203200" y="45466"/>
                    <a:pt x="203200" y="101600"/>
                  </a:cubicBezTo>
                  <a:lnTo>
                    <a:pt x="203200" y="3387979"/>
                  </a:lnTo>
                  <a:cubicBezTo>
                    <a:pt x="203200" y="3444113"/>
                    <a:pt x="157734" y="3489579"/>
                    <a:pt x="101600" y="3489579"/>
                  </a:cubicBezTo>
                  <a:cubicBezTo>
                    <a:pt x="45466" y="3489579"/>
                    <a:pt x="0" y="3444113"/>
                    <a:pt x="0" y="3387979"/>
                  </a:cubicBezTo>
                  <a:close/>
                </a:path>
              </a:pathLst>
            </a:custGeom>
            <a:solidFill>
              <a:srgbClr val="438951"/>
            </a:solidFill>
            <a:ln w="12700">
              <a:solidFill>
                <a:srgbClr val="000000"/>
              </a:solidFill>
            </a:ln>
          </p:spPr>
          <p:txBody>
            <a:bodyPr/>
            <a:lstStyle/>
            <a:p>
              <a:endParaRPr lang="en-IN"/>
            </a:p>
          </p:txBody>
        </p:sp>
      </p:grpSp>
      <p:sp>
        <p:nvSpPr>
          <p:cNvPr id="20" name="TextBox 20"/>
          <p:cNvSpPr txBox="1"/>
          <p:nvPr/>
        </p:nvSpPr>
        <p:spPr>
          <a:xfrm>
            <a:off x="9721606" y="5929608"/>
            <a:ext cx="4645076" cy="452437"/>
          </a:xfrm>
          <a:prstGeom prst="rect">
            <a:avLst/>
          </a:prstGeom>
        </p:spPr>
        <p:txBody>
          <a:bodyPr lIns="0" tIns="0" rIns="0" bIns="0" rtlCol="0" anchor="t">
            <a:spAutoFit/>
          </a:bodyPr>
          <a:lstStyle/>
          <a:p>
            <a:pPr algn="l">
              <a:lnSpc>
                <a:spcPts val="3437"/>
              </a:lnSpc>
            </a:pPr>
            <a:r>
              <a:rPr lang="en-US" sz="2750" b="1">
                <a:solidFill>
                  <a:srgbClr val="405449"/>
                </a:solidFill>
                <a:latin typeface="Fraunces Bold"/>
                <a:ea typeface="Fraunces Bold"/>
                <a:cs typeface="Fraunces Bold"/>
                <a:sym typeface="Fraunces Bold"/>
              </a:rPr>
              <a:t>What AYUSHYA brings in </a:t>
            </a:r>
          </a:p>
        </p:txBody>
      </p:sp>
      <p:sp>
        <p:nvSpPr>
          <p:cNvPr id="21" name="TextBox 21"/>
          <p:cNvSpPr txBox="1"/>
          <p:nvPr/>
        </p:nvSpPr>
        <p:spPr>
          <a:xfrm>
            <a:off x="9721606" y="6447387"/>
            <a:ext cx="7252545" cy="1465659"/>
          </a:xfrm>
          <a:prstGeom prst="rect">
            <a:avLst/>
          </a:prstGeom>
        </p:spPr>
        <p:txBody>
          <a:bodyPr lIns="0" tIns="0" rIns="0" bIns="0" rtlCol="0" anchor="t">
            <a:spAutoFit/>
          </a:bodyPr>
          <a:lstStyle/>
          <a:p>
            <a:pPr algn="l">
              <a:lnSpc>
                <a:spcPts val="3562"/>
              </a:lnSpc>
            </a:pPr>
            <a:r>
              <a:rPr lang="en-US" sz="2187">
                <a:solidFill>
                  <a:srgbClr val="405449"/>
                </a:solidFill>
                <a:latin typeface="Arimo"/>
                <a:ea typeface="Arimo"/>
                <a:cs typeface="Arimo"/>
                <a:sym typeface="Arimo"/>
              </a:rPr>
              <a:t>Simplified approach of offering personalised guidance based on individual constitution and real-world factors.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1F2DE"/>
            </a:solidFill>
            <a:ln w="12700">
              <a:solidFill>
                <a:srgbClr val="000000"/>
              </a:solidFill>
            </a:ln>
          </p:spPr>
          <p:txBody>
            <a:bodyPr/>
            <a:lstStyle/>
            <a:p>
              <a:endParaRPr lang="en-IN"/>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CFBF8"/>
            </a:solidFill>
            <a:ln w="12700">
              <a:solidFill>
                <a:srgbClr val="000000"/>
              </a:solidFill>
            </a:ln>
          </p:spPr>
          <p:txBody>
            <a:bodyPr/>
            <a:lstStyle/>
            <a:p>
              <a:endParaRPr lang="en-IN"/>
            </a:p>
          </p:txBody>
        </p:sp>
      </p:grpSp>
      <p:grpSp>
        <p:nvGrpSpPr>
          <p:cNvPr id="6" name="Group 6"/>
          <p:cNvGrpSpPr/>
          <p:nvPr/>
        </p:nvGrpSpPr>
        <p:grpSpPr>
          <a:xfrm>
            <a:off x="265660" y="325688"/>
            <a:ext cx="18288000" cy="10287000"/>
            <a:chOff x="0" y="0"/>
            <a:chExt cx="24384000" cy="13716000"/>
          </a:xfrm>
        </p:grpSpPr>
        <p:sp>
          <p:nvSpPr>
            <p:cNvPr id="7" name="Freeform 7"/>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FFA">
                <a:alpha val="72157"/>
              </a:srgbClr>
            </a:solidFill>
            <a:ln w="12700">
              <a:solidFill>
                <a:srgbClr val="000000"/>
              </a:solidFill>
            </a:ln>
          </p:spPr>
          <p:txBody>
            <a:bodyPr/>
            <a:lstStyle/>
            <a:p>
              <a:endParaRPr lang="en-IN"/>
            </a:p>
          </p:txBody>
        </p:sp>
      </p:grpSp>
      <p:sp>
        <p:nvSpPr>
          <p:cNvPr id="8" name="TextBox 8"/>
          <p:cNvSpPr txBox="1"/>
          <p:nvPr/>
        </p:nvSpPr>
        <p:spPr>
          <a:xfrm>
            <a:off x="7631719" y="929130"/>
            <a:ext cx="1859280" cy="609600"/>
          </a:xfrm>
          <a:prstGeom prst="rect">
            <a:avLst/>
          </a:prstGeom>
        </p:spPr>
        <p:txBody>
          <a:bodyPr lIns="0" tIns="0" rIns="0" bIns="0" rtlCol="0" anchor="t">
            <a:spAutoFit/>
          </a:bodyPr>
          <a:lstStyle/>
          <a:p>
            <a:pPr algn="ctr">
              <a:lnSpc>
                <a:spcPts val="4875"/>
              </a:lnSpc>
            </a:pPr>
            <a:r>
              <a:rPr lang="en-US" sz="3875">
                <a:solidFill>
                  <a:srgbClr val="233E32"/>
                </a:solidFill>
                <a:latin typeface="Alice"/>
                <a:ea typeface="Alice"/>
                <a:cs typeface="Alice"/>
                <a:sym typeface="Alice"/>
              </a:rPr>
              <a:t>Novelty </a:t>
            </a:r>
          </a:p>
        </p:txBody>
      </p:sp>
      <p:grpSp>
        <p:nvGrpSpPr>
          <p:cNvPr id="9" name="Group 9"/>
          <p:cNvGrpSpPr/>
          <p:nvPr/>
        </p:nvGrpSpPr>
        <p:grpSpPr>
          <a:xfrm>
            <a:off x="389561" y="1900680"/>
            <a:ext cx="16303523" cy="34233"/>
            <a:chOff x="0" y="0"/>
            <a:chExt cx="21738031" cy="45644"/>
          </a:xfrm>
        </p:grpSpPr>
        <p:sp>
          <p:nvSpPr>
            <p:cNvPr id="10" name="Freeform 10"/>
            <p:cNvSpPr/>
            <p:nvPr/>
          </p:nvSpPr>
          <p:spPr>
            <a:xfrm>
              <a:off x="0" y="0"/>
              <a:ext cx="21738082" cy="45593"/>
            </a:xfrm>
            <a:custGeom>
              <a:avLst/>
              <a:gdLst/>
              <a:ahLst/>
              <a:cxnLst/>
              <a:rect l="l" t="t" r="r" b="b"/>
              <a:pathLst>
                <a:path w="21738082" h="45593">
                  <a:moveTo>
                    <a:pt x="0" y="0"/>
                  </a:moveTo>
                  <a:lnTo>
                    <a:pt x="21738082" y="0"/>
                  </a:lnTo>
                  <a:lnTo>
                    <a:pt x="21738082" y="45593"/>
                  </a:lnTo>
                  <a:lnTo>
                    <a:pt x="0" y="45593"/>
                  </a:lnTo>
                  <a:close/>
                </a:path>
              </a:pathLst>
            </a:custGeom>
            <a:solidFill>
              <a:srgbClr val="2C2821">
                <a:alpha val="24706"/>
              </a:srgbClr>
            </a:solidFill>
            <a:ln w="12700">
              <a:solidFill>
                <a:srgbClr val="000000"/>
              </a:solidFill>
            </a:ln>
          </p:spPr>
          <p:txBody>
            <a:bodyPr/>
            <a:lstStyle/>
            <a:p>
              <a:endParaRPr lang="en-IN"/>
            </a:p>
          </p:txBody>
        </p:sp>
      </p:grpSp>
      <p:grpSp>
        <p:nvGrpSpPr>
          <p:cNvPr id="11" name="Group 11"/>
          <p:cNvGrpSpPr/>
          <p:nvPr/>
        </p:nvGrpSpPr>
        <p:grpSpPr>
          <a:xfrm>
            <a:off x="338660" y="2203899"/>
            <a:ext cx="8202663" cy="7121576"/>
            <a:chOff x="0" y="0"/>
            <a:chExt cx="10936884" cy="9495434"/>
          </a:xfrm>
        </p:grpSpPr>
        <p:sp>
          <p:nvSpPr>
            <p:cNvPr id="12" name="Freeform 12"/>
            <p:cNvSpPr/>
            <p:nvPr/>
          </p:nvSpPr>
          <p:spPr>
            <a:xfrm>
              <a:off x="0" y="0"/>
              <a:ext cx="10936859" cy="9495409"/>
            </a:xfrm>
            <a:custGeom>
              <a:avLst/>
              <a:gdLst/>
              <a:ahLst/>
              <a:cxnLst/>
              <a:rect l="l" t="t" r="r" b="b"/>
              <a:pathLst>
                <a:path w="10936859" h="9495409">
                  <a:moveTo>
                    <a:pt x="0" y="39370"/>
                  </a:moveTo>
                  <a:cubicBezTo>
                    <a:pt x="0" y="17653"/>
                    <a:pt x="17653" y="0"/>
                    <a:pt x="39370" y="0"/>
                  </a:cubicBezTo>
                  <a:lnTo>
                    <a:pt x="10897489" y="0"/>
                  </a:lnTo>
                  <a:cubicBezTo>
                    <a:pt x="10919206" y="0"/>
                    <a:pt x="10936859" y="17653"/>
                    <a:pt x="10936859" y="39370"/>
                  </a:cubicBezTo>
                  <a:lnTo>
                    <a:pt x="10936859" y="9456039"/>
                  </a:lnTo>
                  <a:cubicBezTo>
                    <a:pt x="10936859" y="9477756"/>
                    <a:pt x="10919206" y="9495409"/>
                    <a:pt x="10897489" y="9495409"/>
                  </a:cubicBezTo>
                  <a:lnTo>
                    <a:pt x="39370" y="9495409"/>
                  </a:lnTo>
                  <a:cubicBezTo>
                    <a:pt x="17653" y="9495409"/>
                    <a:pt x="0" y="9477756"/>
                    <a:pt x="0" y="9456039"/>
                  </a:cubicBezTo>
                  <a:close/>
                </a:path>
              </a:pathLst>
            </a:custGeom>
            <a:solidFill>
              <a:srgbClr val="EBF4EC"/>
            </a:solidFill>
            <a:ln w="12700">
              <a:solidFill>
                <a:srgbClr val="000000"/>
              </a:solidFill>
            </a:ln>
          </p:spPr>
          <p:txBody>
            <a:bodyPr/>
            <a:lstStyle/>
            <a:p>
              <a:endParaRPr lang="en-IN"/>
            </a:p>
          </p:txBody>
        </p:sp>
      </p:grpSp>
      <p:sp>
        <p:nvSpPr>
          <p:cNvPr id="13" name="TextBox 13"/>
          <p:cNvSpPr txBox="1"/>
          <p:nvPr/>
        </p:nvSpPr>
        <p:spPr>
          <a:xfrm>
            <a:off x="3016452" y="2502303"/>
            <a:ext cx="2955131" cy="378914"/>
          </a:xfrm>
          <a:prstGeom prst="rect">
            <a:avLst/>
          </a:prstGeom>
        </p:spPr>
        <p:txBody>
          <a:bodyPr lIns="0" tIns="0" rIns="0" bIns="0" rtlCol="0" anchor="t">
            <a:spAutoFit/>
          </a:bodyPr>
          <a:lstStyle/>
          <a:p>
            <a:pPr algn="ctr">
              <a:lnSpc>
                <a:spcPts val="2875"/>
              </a:lnSpc>
            </a:pPr>
            <a:r>
              <a:rPr lang="en-US" sz="2312">
                <a:solidFill>
                  <a:srgbClr val="233E32"/>
                </a:solidFill>
                <a:latin typeface="Alice"/>
                <a:ea typeface="Alice"/>
                <a:cs typeface="Alice"/>
                <a:sym typeface="Alice"/>
              </a:rPr>
              <a:t>Generic Diet Apps</a:t>
            </a:r>
          </a:p>
        </p:txBody>
      </p:sp>
      <p:grpSp>
        <p:nvGrpSpPr>
          <p:cNvPr id="14" name="Group 14"/>
          <p:cNvGrpSpPr/>
          <p:nvPr/>
        </p:nvGrpSpPr>
        <p:grpSpPr>
          <a:xfrm>
            <a:off x="575375" y="3020825"/>
            <a:ext cx="3864616" cy="1191216"/>
            <a:chOff x="0" y="0"/>
            <a:chExt cx="5152822" cy="1588287"/>
          </a:xfrm>
        </p:grpSpPr>
        <p:sp>
          <p:nvSpPr>
            <p:cNvPr id="15" name="Freeform 15"/>
            <p:cNvSpPr/>
            <p:nvPr/>
          </p:nvSpPr>
          <p:spPr>
            <a:xfrm>
              <a:off x="19050" y="19050"/>
              <a:ext cx="5114671" cy="1550162"/>
            </a:xfrm>
            <a:custGeom>
              <a:avLst/>
              <a:gdLst/>
              <a:ahLst/>
              <a:cxnLst/>
              <a:rect l="l" t="t" r="r" b="b"/>
              <a:pathLst>
                <a:path w="5114671" h="1550162">
                  <a:moveTo>
                    <a:pt x="0" y="182880"/>
                  </a:moveTo>
                  <a:cubicBezTo>
                    <a:pt x="0" y="81915"/>
                    <a:pt x="83312" y="0"/>
                    <a:pt x="185928" y="0"/>
                  </a:cubicBezTo>
                  <a:lnTo>
                    <a:pt x="4928743" y="0"/>
                  </a:lnTo>
                  <a:cubicBezTo>
                    <a:pt x="5031486" y="0"/>
                    <a:pt x="5114671" y="81915"/>
                    <a:pt x="5114671" y="182880"/>
                  </a:cubicBezTo>
                  <a:lnTo>
                    <a:pt x="5114671" y="1367282"/>
                  </a:lnTo>
                  <a:cubicBezTo>
                    <a:pt x="5114671" y="1468247"/>
                    <a:pt x="5031359" y="1550162"/>
                    <a:pt x="4928743" y="1550162"/>
                  </a:cubicBezTo>
                  <a:lnTo>
                    <a:pt x="185928" y="1550162"/>
                  </a:lnTo>
                  <a:cubicBezTo>
                    <a:pt x="83185" y="1550162"/>
                    <a:pt x="0" y="1468247"/>
                    <a:pt x="0" y="1367282"/>
                  </a:cubicBezTo>
                  <a:close/>
                </a:path>
              </a:pathLst>
            </a:custGeom>
            <a:solidFill>
              <a:srgbClr val="EBF4EC"/>
            </a:solidFill>
            <a:ln w="12700">
              <a:solidFill>
                <a:srgbClr val="000000"/>
              </a:solidFill>
            </a:ln>
          </p:spPr>
          <p:txBody>
            <a:bodyPr/>
            <a:lstStyle/>
            <a:p>
              <a:endParaRPr lang="en-IN"/>
            </a:p>
          </p:txBody>
        </p:sp>
        <p:sp>
          <p:nvSpPr>
            <p:cNvPr id="16" name="Freeform 16"/>
            <p:cNvSpPr/>
            <p:nvPr/>
          </p:nvSpPr>
          <p:spPr>
            <a:xfrm>
              <a:off x="0" y="0"/>
              <a:ext cx="5152771" cy="1588262"/>
            </a:xfrm>
            <a:custGeom>
              <a:avLst/>
              <a:gdLst/>
              <a:ahLst/>
              <a:cxnLst/>
              <a:rect l="l" t="t" r="r" b="b"/>
              <a:pathLst>
                <a:path w="5152771" h="1588262">
                  <a:moveTo>
                    <a:pt x="0" y="201930"/>
                  </a:moveTo>
                  <a:cubicBezTo>
                    <a:pt x="0" y="90043"/>
                    <a:pt x="92075" y="0"/>
                    <a:pt x="204978" y="0"/>
                  </a:cubicBezTo>
                  <a:lnTo>
                    <a:pt x="4947793" y="0"/>
                  </a:lnTo>
                  <a:lnTo>
                    <a:pt x="4947793" y="19050"/>
                  </a:lnTo>
                  <a:lnTo>
                    <a:pt x="4947793" y="0"/>
                  </a:lnTo>
                  <a:cubicBezTo>
                    <a:pt x="5060696" y="0"/>
                    <a:pt x="5152771" y="90043"/>
                    <a:pt x="5152771" y="201930"/>
                  </a:cubicBezTo>
                  <a:lnTo>
                    <a:pt x="5133721" y="201930"/>
                  </a:lnTo>
                  <a:lnTo>
                    <a:pt x="5152771" y="201930"/>
                  </a:lnTo>
                  <a:lnTo>
                    <a:pt x="5152771" y="1386332"/>
                  </a:lnTo>
                  <a:lnTo>
                    <a:pt x="5133721" y="1386332"/>
                  </a:lnTo>
                  <a:lnTo>
                    <a:pt x="5152771" y="1386332"/>
                  </a:lnTo>
                  <a:cubicBezTo>
                    <a:pt x="5152771" y="1498092"/>
                    <a:pt x="5060696" y="1588262"/>
                    <a:pt x="4947793" y="1588262"/>
                  </a:cubicBezTo>
                  <a:lnTo>
                    <a:pt x="4947793" y="1569212"/>
                  </a:lnTo>
                  <a:lnTo>
                    <a:pt x="4947793" y="1588262"/>
                  </a:lnTo>
                  <a:lnTo>
                    <a:pt x="204978" y="1588262"/>
                  </a:lnTo>
                  <a:lnTo>
                    <a:pt x="204978" y="1569212"/>
                  </a:lnTo>
                  <a:lnTo>
                    <a:pt x="204978" y="1588262"/>
                  </a:lnTo>
                  <a:cubicBezTo>
                    <a:pt x="92075" y="1588262"/>
                    <a:pt x="0" y="1498219"/>
                    <a:pt x="0" y="1386332"/>
                  </a:cubicBezTo>
                  <a:lnTo>
                    <a:pt x="0" y="201930"/>
                  </a:lnTo>
                  <a:lnTo>
                    <a:pt x="19050" y="201930"/>
                  </a:lnTo>
                  <a:lnTo>
                    <a:pt x="0" y="201930"/>
                  </a:lnTo>
                  <a:moveTo>
                    <a:pt x="38100" y="201930"/>
                  </a:moveTo>
                  <a:lnTo>
                    <a:pt x="38100" y="1386332"/>
                  </a:lnTo>
                  <a:lnTo>
                    <a:pt x="19050" y="1386332"/>
                  </a:lnTo>
                  <a:lnTo>
                    <a:pt x="38100" y="1386332"/>
                  </a:lnTo>
                  <a:cubicBezTo>
                    <a:pt x="38100" y="1476502"/>
                    <a:pt x="112522" y="1550162"/>
                    <a:pt x="204978" y="1550162"/>
                  </a:cubicBezTo>
                  <a:lnTo>
                    <a:pt x="4947793" y="1550162"/>
                  </a:lnTo>
                  <a:cubicBezTo>
                    <a:pt x="5040249" y="1550162"/>
                    <a:pt x="5114671" y="1476502"/>
                    <a:pt x="5114671" y="1386332"/>
                  </a:cubicBezTo>
                  <a:lnTo>
                    <a:pt x="5114671" y="201930"/>
                  </a:lnTo>
                  <a:cubicBezTo>
                    <a:pt x="5114671" y="111760"/>
                    <a:pt x="5040249" y="38100"/>
                    <a:pt x="4947793" y="38100"/>
                  </a:cubicBezTo>
                  <a:lnTo>
                    <a:pt x="204978" y="38100"/>
                  </a:lnTo>
                  <a:lnTo>
                    <a:pt x="204978" y="19050"/>
                  </a:lnTo>
                  <a:lnTo>
                    <a:pt x="204978" y="38100"/>
                  </a:lnTo>
                  <a:cubicBezTo>
                    <a:pt x="112522" y="38100"/>
                    <a:pt x="38100" y="111760"/>
                    <a:pt x="38100" y="201930"/>
                  </a:cubicBezTo>
                  <a:close/>
                </a:path>
              </a:pathLst>
            </a:custGeom>
            <a:solidFill>
              <a:srgbClr val="B2BEB5"/>
            </a:solidFill>
            <a:ln w="12700">
              <a:solidFill>
                <a:srgbClr val="000000"/>
              </a:solidFill>
            </a:ln>
          </p:spPr>
          <p:txBody>
            <a:bodyPr/>
            <a:lstStyle/>
            <a:p>
              <a:endParaRPr lang="en-IN"/>
            </a:p>
          </p:txBody>
        </p:sp>
      </p:grpSp>
      <p:grpSp>
        <p:nvGrpSpPr>
          <p:cNvPr id="17" name="Group 17"/>
          <p:cNvGrpSpPr/>
          <p:nvPr/>
        </p:nvGrpSpPr>
        <p:grpSpPr>
          <a:xfrm>
            <a:off x="561088" y="3035113"/>
            <a:ext cx="114300" cy="1162641"/>
            <a:chOff x="0" y="0"/>
            <a:chExt cx="152400" cy="1550187"/>
          </a:xfrm>
        </p:grpSpPr>
        <p:sp>
          <p:nvSpPr>
            <p:cNvPr id="18" name="Freeform 18"/>
            <p:cNvSpPr/>
            <p:nvPr/>
          </p:nvSpPr>
          <p:spPr>
            <a:xfrm>
              <a:off x="0" y="0"/>
              <a:ext cx="152400" cy="1550162"/>
            </a:xfrm>
            <a:custGeom>
              <a:avLst/>
              <a:gdLst/>
              <a:ahLst/>
              <a:cxnLst/>
              <a:rect l="l" t="t" r="r" b="b"/>
              <a:pathLst>
                <a:path w="152400" h="1550162">
                  <a:moveTo>
                    <a:pt x="0" y="39370"/>
                  </a:moveTo>
                  <a:cubicBezTo>
                    <a:pt x="0" y="17653"/>
                    <a:pt x="17653" y="0"/>
                    <a:pt x="39370" y="0"/>
                  </a:cubicBezTo>
                  <a:lnTo>
                    <a:pt x="113030" y="0"/>
                  </a:lnTo>
                  <a:cubicBezTo>
                    <a:pt x="134747" y="0"/>
                    <a:pt x="152400" y="17653"/>
                    <a:pt x="152400" y="39370"/>
                  </a:cubicBezTo>
                  <a:lnTo>
                    <a:pt x="152400" y="1510792"/>
                  </a:lnTo>
                  <a:cubicBezTo>
                    <a:pt x="152400" y="1532509"/>
                    <a:pt x="134747" y="1550162"/>
                    <a:pt x="113030" y="1550162"/>
                  </a:cubicBezTo>
                  <a:lnTo>
                    <a:pt x="39370" y="1550162"/>
                  </a:lnTo>
                  <a:cubicBezTo>
                    <a:pt x="17653" y="1550162"/>
                    <a:pt x="0" y="1532509"/>
                    <a:pt x="0" y="1510792"/>
                  </a:cubicBezTo>
                  <a:close/>
                </a:path>
              </a:pathLst>
            </a:custGeom>
            <a:solidFill>
              <a:srgbClr val="B2BEB5"/>
            </a:solidFill>
            <a:ln w="12700">
              <a:solidFill>
                <a:srgbClr val="000000"/>
              </a:solidFill>
            </a:ln>
          </p:spPr>
          <p:txBody>
            <a:bodyPr/>
            <a:lstStyle/>
            <a:p>
              <a:endParaRPr lang="en-IN"/>
            </a:p>
          </p:txBody>
        </p:sp>
      </p:grpSp>
      <p:sp>
        <p:nvSpPr>
          <p:cNvPr id="19" name="TextBox 19"/>
          <p:cNvSpPr txBox="1"/>
          <p:nvPr/>
        </p:nvSpPr>
        <p:spPr>
          <a:xfrm>
            <a:off x="900863" y="3251063"/>
            <a:ext cx="2462660" cy="317297"/>
          </a:xfrm>
          <a:prstGeom prst="rect">
            <a:avLst/>
          </a:prstGeom>
        </p:spPr>
        <p:txBody>
          <a:bodyPr lIns="0" tIns="0" rIns="0" bIns="0" rtlCol="0" anchor="t">
            <a:spAutoFit/>
          </a:bodyPr>
          <a:lstStyle/>
          <a:p>
            <a:pPr algn="l">
              <a:lnSpc>
                <a:spcPts val="2375"/>
              </a:lnSpc>
            </a:pPr>
            <a:r>
              <a:rPr lang="en-US" sz="1937">
                <a:solidFill>
                  <a:srgbClr val="2C2821"/>
                </a:solidFill>
                <a:latin typeface="Alice"/>
                <a:ea typeface="Alice"/>
                <a:cs typeface="Alice"/>
                <a:sym typeface="Alice"/>
              </a:rPr>
              <a:t>Personalization</a:t>
            </a:r>
          </a:p>
        </p:txBody>
      </p:sp>
      <p:sp>
        <p:nvSpPr>
          <p:cNvPr id="20" name="TextBox 20"/>
          <p:cNvSpPr txBox="1"/>
          <p:nvPr/>
        </p:nvSpPr>
        <p:spPr>
          <a:xfrm>
            <a:off x="900863" y="3686080"/>
            <a:ext cx="3299374" cy="286198"/>
          </a:xfrm>
          <a:prstGeom prst="rect">
            <a:avLst/>
          </a:prstGeom>
        </p:spPr>
        <p:txBody>
          <a:bodyPr lIns="0" tIns="0" rIns="0" bIns="0" rtlCol="0" anchor="t">
            <a:spAutoFit/>
          </a:bodyPr>
          <a:lstStyle/>
          <a:p>
            <a:pPr algn="l">
              <a:lnSpc>
                <a:spcPts val="2062"/>
              </a:lnSpc>
            </a:pPr>
            <a:r>
              <a:rPr lang="en-US" sz="1500">
                <a:solidFill>
                  <a:srgbClr val="2C2821"/>
                </a:solidFill>
                <a:latin typeface="Lora"/>
                <a:ea typeface="Lora"/>
                <a:cs typeface="Lora"/>
                <a:sym typeface="Lora"/>
              </a:rPr>
              <a:t>Age/calories only</a:t>
            </a:r>
          </a:p>
        </p:txBody>
      </p:sp>
      <p:grpSp>
        <p:nvGrpSpPr>
          <p:cNvPr id="21" name="Group 21"/>
          <p:cNvGrpSpPr/>
          <p:nvPr/>
        </p:nvGrpSpPr>
        <p:grpSpPr>
          <a:xfrm>
            <a:off x="4548195" y="3020825"/>
            <a:ext cx="3864616" cy="1191216"/>
            <a:chOff x="0" y="0"/>
            <a:chExt cx="5152822" cy="1588287"/>
          </a:xfrm>
        </p:grpSpPr>
        <p:sp>
          <p:nvSpPr>
            <p:cNvPr id="22" name="Freeform 22"/>
            <p:cNvSpPr/>
            <p:nvPr/>
          </p:nvSpPr>
          <p:spPr>
            <a:xfrm>
              <a:off x="19050" y="19050"/>
              <a:ext cx="5114671" cy="1550162"/>
            </a:xfrm>
            <a:custGeom>
              <a:avLst/>
              <a:gdLst/>
              <a:ahLst/>
              <a:cxnLst/>
              <a:rect l="l" t="t" r="r" b="b"/>
              <a:pathLst>
                <a:path w="5114671" h="1550162">
                  <a:moveTo>
                    <a:pt x="0" y="182880"/>
                  </a:moveTo>
                  <a:cubicBezTo>
                    <a:pt x="0" y="81915"/>
                    <a:pt x="83312" y="0"/>
                    <a:pt x="185928" y="0"/>
                  </a:cubicBezTo>
                  <a:lnTo>
                    <a:pt x="4928743" y="0"/>
                  </a:lnTo>
                  <a:cubicBezTo>
                    <a:pt x="5031486" y="0"/>
                    <a:pt x="5114671" y="81915"/>
                    <a:pt x="5114671" y="182880"/>
                  </a:cubicBezTo>
                  <a:lnTo>
                    <a:pt x="5114671" y="1367282"/>
                  </a:lnTo>
                  <a:cubicBezTo>
                    <a:pt x="5114671" y="1468247"/>
                    <a:pt x="5031359" y="1550162"/>
                    <a:pt x="4928743" y="1550162"/>
                  </a:cubicBezTo>
                  <a:lnTo>
                    <a:pt x="185928" y="1550162"/>
                  </a:lnTo>
                  <a:cubicBezTo>
                    <a:pt x="83185" y="1550162"/>
                    <a:pt x="0" y="1468247"/>
                    <a:pt x="0" y="1367282"/>
                  </a:cubicBezTo>
                  <a:close/>
                </a:path>
              </a:pathLst>
            </a:custGeom>
            <a:solidFill>
              <a:srgbClr val="EBF4EC"/>
            </a:solidFill>
            <a:ln w="12700">
              <a:solidFill>
                <a:srgbClr val="000000"/>
              </a:solidFill>
            </a:ln>
          </p:spPr>
          <p:txBody>
            <a:bodyPr/>
            <a:lstStyle/>
            <a:p>
              <a:endParaRPr lang="en-IN"/>
            </a:p>
          </p:txBody>
        </p:sp>
        <p:sp>
          <p:nvSpPr>
            <p:cNvPr id="23" name="Freeform 23"/>
            <p:cNvSpPr/>
            <p:nvPr/>
          </p:nvSpPr>
          <p:spPr>
            <a:xfrm>
              <a:off x="0" y="0"/>
              <a:ext cx="5152771" cy="1588262"/>
            </a:xfrm>
            <a:custGeom>
              <a:avLst/>
              <a:gdLst/>
              <a:ahLst/>
              <a:cxnLst/>
              <a:rect l="l" t="t" r="r" b="b"/>
              <a:pathLst>
                <a:path w="5152771" h="1588262">
                  <a:moveTo>
                    <a:pt x="0" y="201930"/>
                  </a:moveTo>
                  <a:cubicBezTo>
                    <a:pt x="0" y="90043"/>
                    <a:pt x="92075" y="0"/>
                    <a:pt x="204978" y="0"/>
                  </a:cubicBezTo>
                  <a:lnTo>
                    <a:pt x="4947793" y="0"/>
                  </a:lnTo>
                  <a:lnTo>
                    <a:pt x="4947793" y="19050"/>
                  </a:lnTo>
                  <a:lnTo>
                    <a:pt x="4947793" y="0"/>
                  </a:lnTo>
                  <a:cubicBezTo>
                    <a:pt x="5060696" y="0"/>
                    <a:pt x="5152771" y="90043"/>
                    <a:pt x="5152771" y="201930"/>
                  </a:cubicBezTo>
                  <a:lnTo>
                    <a:pt x="5133721" y="201930"/>
                  </a:lnTo>
                  <a:lnTo>
                    <a:pt x="5152771" y="201930"/>
                  </a:lnTo>
                  <a:lnTo>
                    <a:pt x="5152771" y="1386332"/>
                  </a:lnTo>
                  <a:lnTo>
                    <a:pt x="5133721" y="1386332"/>
                  </a:lnTo>
                  <a:lnTo>
                    <a:pt x="5152771" y="1386332"/>
                  </a:lnTo>
                  <a:cubicBezTo>
                    <a:pt x="5152771" y="1498092"/>
                    <a:pt x="5060696" y="1588262"/>
                    <a:pt x="4947793" y="1588262"/>
                  </a:cubicBezTo>
                  <a:lnTo>
                    <a:pt x="4947793" y="1569212"/>
                  </a:lnTo>
                  <a:lnTo>
                    <a:pt x="4947793" y="1588262"/>
                  </a:lnTo>
                  <a:lnTo>
                    <a:pt x="204978" y="1588262"/>
                  </a:lnTo>
                  <a:lnTo>
                    <a:pt x="204978" y="1569212"/>
                  </a:lnTo>
                  <a:lnTo>
                    <a:pt x="204978" y="1588262"/>
                  </a:lnTo>
                  <a:cubicBezTo>
                    <a:pt x="92075" y="1588262"/>
                    <a:pt x="0" y="1498219"/>
                    <a:pt x="0" y="1386332"/>
                  </a:cubicBezTo>
                  <a:lnTo>
                    <a:pt x="0" y="201930"/>
                  </a:lnTo>
                  <a:lnTo>
                    <a:pt x="19050" y="201930"/>
                  </a:lnTo>
                  <a:lnTo>
                    <a:pt x="0" y="201930"/>
                  </a:lnTo>
                  <a:moveTo>
                    <a:pt x="38100" y="201930"/>
                  </a:moveTo>
                  <a:lnTo>
                    <a:pt x="38100" y="1386332"/>
                  </a:lnTo>
                  <a:lnTo>
                    <a:pt x="19050" y="1386332"/>
                  </a:lnTo>
                  <a:lnTo>
                    <a:pt x="38100" y="1386332"/>
                  </a:lnTo>
                  <a:cubicBezTo>
                    <a:pt x="38100" y="1476502"/>
                    <a:pt x="112522" y="1550162"/>
                    <a:pt x="204978" y="1550162"/>
                  </a:cubicBezTo>
                  <a:lnTo>
                    <a:pt x="4947793" y="1550162"/>
                  </a:lnTo>
                  <a:cubicBezTo>
                    <a:pt x="5040249" y="1550162"/>
                    <a:pt x="5114671" y="1476502"/>
                    <a:pt x="5114671" y="1386332"/>
                  </a:cubicBezTo>
                  <a:lnTo>
                    <a:pt x="5114671" y="201930"/>
                  </a:lnTo>
                  <a:cubicBezTo>
                    <a:pt x="5114671" y="111760"/>
                    <a:pt x="5040249" y="38100"/>
                    <a:pt x="4947793" y="38100"/>
                  </a:cubicBezTo>
                  <a:lnTo>
                    <a:pt x="204978" y="38100"/>
                  </a:lnTo>
                  <a:lnTo>
                    <a:pt x="204978" y="19050"/>
                  </a:lnTo>
                  <a:lnTo>
                    <a:pt x="204978" y="38100"/>
                  </a:lnTo>
                  <a:cubicBezTo>
                    <a:pt x="112522" y="38100"/>
                    <a:pt x="38100" y="111760"/>
                    <a:pt x="38100" y="201930"/>
                  </a:cubicBezTo>
                  <a:close/>
                </a:path>
              </a:pathLst>
            </a:custGeom>
            <a:solidFill>
              <a:srgbClr val="B2BEB5"/>
            </a:solidFill>
            <a:ln w="12700">
              <a:solidFill>
                <a:srgbClr val="000000"/>
              </a:solidFill>
            </a:ln>
          </p:spPr>
          <p:txBody>
            <a:bodyPr/>
            <a:lstStyle/>
            <a:p>
              <a:endParaRPr lang="en-IN"/>
            </a:p>
          </p:txBody>
        </p:sp>
      </p:grpSp>
      <p:grpSp>
        <p:nvGrpSpPr>
          <p:cNvPr id="24" name="Group 24"/>
          <p:cNvGrpSpPr/>
          <p:nvPr/>
        </p:nvGrpSpPr>
        <p:grpSpPr>
          <a:xfrm>
            <a:off x="4533908" y="3035113"/>
            <a:ext cx="114300" cy="1162641"/>
            <a:chOff x="0" y="0"/>
            <a:chExt cx="152400" cy="1550187"/>
          </a:xfrm>
        </p:grpSpPr>
        <p:sp>
          <p:nvSpPr>
            <p:cNvPr id="25" name="Freeform 25"/>
            <p:cNvSpPr/>
            <p:nvPr/>
          </p:nvSpPr>
          <p:spPr>
            <a:xfrm>
              <a:off x="0" y="0"/>
              <a:ext cx="152400" cy="1550162"/>
            </a:xfrm>
            <a:custGeom>
              <a:avLst/>
              <a:gdLst/>
              <a:ahLst/>
              <a:cxnLst/>
              <a:rect l="l" t="t" r="r" b="b"/>
              <a:pathLst>
                <a:path w="152400" h="1550162">
                  <a:moveTo>
                    <a:pt x="0" y="39370"/>
                  </a:moveTo>
                  <a:cubicBezTo>
                    <a:pt x="0" y="17653"/>
                    <a:pt x="17653" y="0"/>
                    <a:pt x="39370" y="0"/>
                  </a:cubicBezTo>
                  <a:lnTo>
                    <a:pt x="113030" y="0"/>
                  </a:lnTo>
                  <a:cubicBezTo>
                    <a:pt x="134747" y="0"/>
                    <a:pt x="152400" y="17653"/>
                    <a:pt x="152400" y="39370"/>
                  </a:cubicBezTo>
                  <a:lnTo>
                    <a:pt x="152400" y="1510792"/>
                  </a:lnTo>
                  <a:cubicBezTo>
                    <a:pt x="152400" y="1532509"/>
                    <a:pt x="134747" y="1550162"/>
                    <a:pt x="113030" y="1550162"/>
                  </a:cubicBezTo>
                  <a:lnTo>
                    <a:pt x="39370" y="1550162"/>
                  </a:lnTo>
                  <a:cubicBezTo>
                    <a:pt x="17653" y="1550162"/>
                    <a:pt x="0" y="1532509"/>
                    <a:pt x="0" y="1510792"/>
                  </a:cubicBezTo>
                  <a:close/>
                </a:path>
              </a:pathLst>
            </a:custGeom>
            <a:solidFill>
              <a:srgbClr val="B2BEB5"/>
            </a:solidFill>
            <a:ln w="12700">
              <a:solidFill>
                <a:srgbClr val="000000"/>
              </a:solidFill>
            </a:ln>
          </p:spPr>
          <p:txBody>
            <a:bodyPr/>
            <a:lstStyle/>
            <a:p>
              <a:endParaRPr lang="en-IN"/>
            </a:p>
          </p:txBody>
        </p:sp>
      </p:grpSp>
      <p:sp>
        <p:nvSpPr>
          <p:cNvPr id="26" name="TextBox 26"/>
          <p:cNvSpPr txBox="1"/>
          <p:nvPr/>
        </p:nvSpPr>
        <p:spPr>
          <a:xfrm>
            <a:off x="4873684" y="3251063"/>
            <a:ext cx="2462660" cy="317297"/>
          </a:xfrm>
          <a:prstGeom prst="rect">
            <a:avLst/>
          </a:prstGeom>
        </p:spPr>
        <p:txBody>
          <a:bodyPr lIns="0" tIns="0" rIns="0" bIns="0" rtlCol="0" anchor="t">
            <a:spAutoFit/>
          </a:bodyPr>
          <a:lstStyle/>
          <a:p>
            <a:pPr algn="l">
              <a:lnSpc>
                <a:spcPts val="2375"/>
              </a:lnSpc>
            </a:pPr>
            <a:r>
              <a:rPr lang="en-US" sz="1937">
                <a:solidFill>
                  <a:srgbClr val="2C2821"/>
                </a:solidFill>
                <a:latin typeface="Alice"/>
                <a:ea typeface="Alice"/>
                <a:cs typeface="Alice"/>
                <a:sym typeface="Alice"/>
              </a:rPr>
              <a:t>Learning</a:t>
            </a:r>
          </a:p>
        </p:txBody>
      </p:sp>
      <p:sp>
        <p:nvSpPr>
          <p:cNvPr id="27" name="TextBox 27"/>
          <p:cNvSpPr txBox="1"/>
          <p:nvPr/>
        </p:nvSpPr>
        <p:spPr>
          <a:xfrm>
            <a:off x="4873684" y="3686080"/>
            <a:ext cx="3299374" cy="286198"/>
          </a:xfrm>
          <a:prstGeom prst="rect">
            <a:avLst/>
          </a:prstGeom>
        </p:spPr>
        <p:txBody>
          <a:bodyPr lIns="0" tIns="0" rIns="0" bIns="0" rtlCol="0" anchor="t">
            <a:spAutoFit/>
          </a:bodyPr>
          <a:lstStyle/>
          <a:p>
            <a:pPr algn="l">
              <a:lnSpc>
                <a:spcPts val="2062"/>
              </a:lnSpc>
            </a:pPr>
            <a:r>
              <a:rPr lang="en-US" sz="1500">
                <a:solidFill>
                  <a:srgbClr val="2C2821"/>
                </a:solidFill>
                <a:latin typeface="Lora"/>
                <a:ea typeface="Lora"/>
                <a:cs typeface="Lora"/>
                <a:sym typeface="Lora"/>
              </a:rPr>
              <a:t>No learning capability</a:t>
            </a:r>
          </a:p>
        </p:txBody>
      </p:sp>
      <p:grpSp>
        <p:nvGrpSpPr>
          <p:cNvPr id="28" name="Group 28"/>
          <p:cNvGrpSpPr/>
          <p:nvPr/>
        </p:nvGrpSpPr>
        <p:grpSpPr>
          <a:xfrm>
            <a:off x="575375" y="4320245"/>
            <a:ext cx="3864616" cy="1191216"/>
            <a:chOff x="0" y="0"/>
            <a:chExt cx="5152822" cy="1588287"/>
          </a:xfrm>
        </p:grpSpPr>
        <p:sp>
          <p:nvSpPr>
            <p:cNvPr id="29" name="Freeform 29"/>
            <p:cNvSpPr/>
            <p:nvPr/>
          </p:nvSpPr>
          <p:spPr>
            <a:xfrm>
              <a:off x="19050" y="19050"/>
              <a:ext cx="5114671" cy="1550162"/>
            </a:xfrm>
            <a:custGeom>
              <a:avLst/>
              <a:gdLst/>
              <a:ahLst/>
              <a:cxnLst/>
              <a:rect l="l" t="t" r="r" b="b"/>
              <a:pathLst>
                <a:path w="5114671" h="1550162">
                  <a:moveTo>
                    <a:pt x="0" y="182880"/>
                  </a:moveTo>
                  <a:cubicBezTo>
                    <a:pt x="0" y="81915"/>
                    <a:pt x="83312" y="0"/>
                    <a:pt x="185928" y="0"/>
                  </a:cubicBezTo>
                  <a:lnTo>
                    <a:pt x="4928743" y="0"/>
                  </a:lnTo>
                  <a:cubicBezTo>
                    <a:pt x="5031486" y="0"/>
                    <a:pt x="5114671" y="81915"/>
                    <a:pt x="5114671" y="182880"/>
                  </a:cubicBezTo>
                  <a:lnTo>
                    <a:pt x="5114671" y="1367282"/>
                  </a:lnTo>
                  <a:cubicBezTo>
                    <a:pt x="5114671" y="1468247"/>
                    <a:pt x="5031359" y="1550162"/>
                    <a:pt x="4928743" y="1550162"/>
                  </a:cubicBezTo>
                  <a:lnTo>
                    <a:pt x="185928" y="1550162"/>
                  </a:lnTo>
                  <a:cubicBezTo>
                    <a:pt x="83185" y="1550162"/>
                    <a:pt x="0" y="1468247"/>
                    <a:pt x="0" y="1367282"/>
                  </a:cubicBezTo>
                  <a:close/>
                </a:path>
              </a:pathLst>
            </a:custGeom>
            <a:solidFill>
              <a:srgbClr val="EBF4EC"/>
            </a:solidFill>
            <a:ln w="12700">
              <a:solidFill>
                <a:srgbClr val="000000"/>
              </a:solidFill>
            </a:ln>
          </p:spPr>
          <p:txBody>
            <a:bodyPr/>
            <a:lstStyle/>
            <a:p>
              <a:endParaRPr lang="en-IN"/>
            </a:p>
          </p:txBody>
        </p:sp>
        <p:sp>
          <p:nvSpPr>
            <p:cNvPr id="30" name="Freeform 30"/>
            <p:cNvSpPr/>
            <p:nvPr/>
          </p:nvSpPr>
          <p:spPr>
            <a:xfrm>
              <a:off x="0" y="0"/>
              <a:ext cx="5152771" cy="1588262"/>
            </a:xfrm>
            <a:custGeom>
              <a:avLst/>
              <a:gdLst/>
              <a:ahLst/>
              <a:cxnLst/>
              <a:rect l="l" t="t" r="r" b="b"/>
              <a:pathLst>
                <a:path w="5152771" h="1588262">
                  <a:moveTo>
                    <a:pt x="0" y="201930"/>
                  </a:moveTo>
                  <a:cubicBezTo>
                    <a:pt x="0" y="90043"/>
                    <a:pt x="92075" y="0"/>
                    <a:pt x="204978" y="0"/>
                  </a:cubicBezTo>
                  <a:lnTo>
                    <a:pt x="4947793" y="0"/>
                  </a:lnTo>
                  <a:lnTo>
                    <a:pt x="4947793" y="19050"/>
                  </a:lnTo>
                  <a:lnTo>
                    <a:pt x="4947793" y="0"/>
                  </a:lnTo>
                  <a:cubicBezTo>
                    <a:pt x="5060696" y="0"/>
                    <a:pt x="5152771" y="90043"/>
                    <a:pt x="5152771" y="201930"/>
                  </a:cubicBezTo>
                  <a:lnTo>
                    <a:pt x="5133721" y="201930"/>
                  </a:lnTo>
                  <a:lnTo>
                    <a:pt x="5152771" y="201930"/>
                  </a:lnTo>
                  <a:lnTo>
                    <a:pt x="5152771" y="1386332"/>
                  </a:lnTo>
                  <a:lnTo>
                    <a:pt x="5133721" y="1386332"/>
                  </a:lnTo>
                  <a:lnTo>
                    <a:pt x="5152771" y="1386332"/>
                  </a:lnTo>
                  <a:cubicBezTo>
                    <a:pt x="5152771" y="1498092"/>
                    <a:pt x="5060696" y="1588262"/>
                    <a:pt x="4947793" y="1588262"/>
                  </a:cubicBezTo>
                  <a:lnTo>
                    <a:pt x="4947793" y="1569212"/>
                  </a:lnTo>
                  <a:lnTo>
                    <a:pt x="4947793" y="1588262"/>
                  </a:lnTo>
                  <a:lnTo>
                    <a:pt x="204978" y="1588262"/>
                  </a:lnTo>
                  <a:lnTo>
                    <a:pt x="204978" y="1569212"/>
                  </a:lnTo>
                  <a:lnTo>
                    <a:pt x="204978" y="1588262"/>
                  </a:lnTo>
                  <a:cubicBezTo>
                    <a:pt x="92075" y="1588262"/>
                    <a:pt x="0" y="1498219"/>
                    <a:pt x="0" y="1386332"/>
                  </a:cubicBezTo>
                  <a:lnTo>
                    <a:pt x="0" y="201930"/>
                  </a:lnTo>
                  <a:lnTo>
                    <a:pt x="19050" y="201930"/>
                  </a:lnTo>
                  <a:lnTo>
                    <a:pt x="0" y="201930"/>
                  </a:lnTo>
                  <a:moveTo>
                    <a:pt x="38100" y="201930"/>
                  </a:moveTo>
                  <a:lnTo>
                    <a:pt x="38100" y="1386332"/>
                  </a:lnTo>
                  <a:lnTo>
                    <a:pt x="19050" y="1386332"/>
                  </a:lnTo>
                  <a:lnTo>
                    <a:pt x="38100" y="1386332"/>
                  </a:lnTo>
                  <a:cubicBezTo>
                    <a:pt x="38100" y="1476502"/>
                    <a:pt x="112522" y="1550162"/>
                    <a:pt x="204978" y="1550162"/>
                  </a:cubicBezTo>
                  <a:lnTo>
                    <a:pt x="4947793" y="1550162"/>
                  </a:lnTo>
                  <a:cubicBezTo>
                    <a:pt x="5040249" y="1550162"/>
                    <a:pt x="5114671" y="1476502"/>
                    <a:pt x="5114671" y="1386332"/>
                  </a:cubicBezTo>
                  <a:lnTo>
                    <a:pt x="5114671" y="201930"/>
                  </a:lnTo>
                  <a:cubicBezTo>
                    <a:pt x="5114671" y="111760"/>
                    <a:pt x="5040249" y="38100"/>
                    <a:pt x="4947793" y="38100"/>
                  </a:cubicBezTo>
                  <a:lnTo>
                    <a:pt x="204978" y="38100"/>
                  </a:lnTo>
                  <a:lnTo>
                    <a:pt x="204978" y="19050"/>
                  </a:lnTo>
                  <a:lnTo>
                    <a:pt x="204978" y="38100"/>
                  </a:lnTo>
                  <a:cubicBezTo>
                    <a:pt x="112522" y="38100"/>
                    <a:pt x="38100" y="111760"/>
                    <a:pt x="38100" y="201930"/>
                  </a:cubicBezTo>
                  <a:close/>
                </a:path>
              </a:pathLst>
            </a:custGeom>
            <a:solidFill>
              <a:srgbClr val="B2BEB5"/>
            </a:solidFill>
            <a:ln w="12700">
              <a:solidFill>
                <a:srgbClr val="000000"/>
              </a:solidFill>
            </a:ln>
          </p:spPr>
          <p:txBody>
            <a:bodyPr/>
            <a:lstStyle/>
            <a:p>
              <a:endParaRPr lang="en-IN"/>
            </a:p>
          </p:txBody>
        </p:sp>
      </p:grpSp>
      <p:grpSp>
        <p:nvGrpSpPr>
          <p:cNvPr id="31" name="Group 31"/>
          <p:cNvGrpSpPr/>
          <p:nvPr/>
        </p:nvGrpSpPr>
        <p:grpSpPr>
          <a:xfrm>
            <a:off x="561088" y="4334532"/>
            <a:ext cx="114300" cy="1162641"/>
            <a:chOff x="0" y="0"/>
            <a:chExt cx="152400" cy="1550187"/>
          </a:xfrm>
        </p:grpSpPr>
        <p:sp>
          <p:nvSpPr>
            <p:cNvPr id="32" name="Freeform 32"/>
            <p:cNvSpPr/>
            <p:nvPr/>
          </p:nvSpPr>
          <p:spPr>
            <a:xfrm>
              <a:off x="0" y="0"/>
              <a:ext cx="152400" cy="1550162"/>
            </a:xfrm>
            <a:custGeom>
              <a:avLst/>
              <a:gdLst/>
              <a:ahLst/>
              <a:cxnLst/>
              <a:rect l="l" t="t" r="r" b="b"/>
              <a:pathLst>
                <a:path w="152400" h="1550162">
                  <a:moveTo>
                    <a:pt x="0" y="39370"/>
                  </a:moveTo>
                  <a:cubicBezTo>
                    <a:pt x="0" y="17653"/>
                    <a:pt x="17653" y="0"/>
                    <a:pt x="39370" y="0"/>
                  </a:cubicBezTo>
                  <a:lnTo>
                    <a:pt x="113030" y="0"/>
                  </a:lnTo>
                  <a:cubicBezTo>
                    <a:pt x="134747" y="0"/>
                    <a:pt x="152400" y="17653"/>
                    <a:pt x="152400" y="39370"/>
                  </a:cubicBezTo>
                  <a:lnTo>
                    <a:pt x="152400" y="1510792"/>
                  </a:lnTo>
                  <a:cubicBezTo>
                    <a:pt x="152400" y="1532509"/>
                    <a:pt x="134747" y="1550162"/>
                    <a:pt x="113030" y="1550162"/>
                  </a:cubicBezTo>
                  <a:lnTo>
                    <a:pt x="39370" y="1550162"/>
                  </a:lnTo>
                  <a:cubicBezTo>
                    <a:pt x="17653" y="1550162"/>
                    <a:pt x="0" y="1532509"/>
                    <a:pt x="0" y="1510792"/>
                  </a:cubicBezTo>
                  <a:close/>
                </a:path>
              </a:pathLst>
            </a:custGeom>
            <a:solidFill>
              <a:srgbClr val="B2BEB5"/>
            </a:solidFill>
            <a:ln w="12700">
              <a:solidFill>
                <a:srgbClr val="000000"/>
              </a:solidFill>
            </a:ln>
          </p:spPr>
          <p:txBody>
            <a:bodyPr/>
            <a:lstStyle/>
            <a:p>
              <a:endParaRPr lang="en-IN"/>
            </a:p>
          </p:txBody>
        </p:sp>
      </p:grpSp>
      <p:sp>
        <p:nvSpPr>
          <p:cNvPr id="33" name="TextBox 33"/>
          <p:cNvSpPr txBox="1"/>
          <p:nvPr/>
        </p:nvSpPr>
        <p:spPr>
          <a:xfrm>
            <a:off x="900863" y="4550473"/>
            <a:ext cx="2462660" cy="317297"/>
          </a:xfrm>
          <a:prstGeom prst="rect">
            <a:avLst/>
          </a:prstGeom>
        </p:spPr>
        <p:txBody>
          <a:bodyPr lIns="0" tIns="0" rIns="0" bIns="0" rtlCol="0" anchor="t">
            <a:spAutoFit/>
          </a:bodyPr>
          <a:lstStyle/>
          <a:p>
            <a:pPr algn="l">
              <a:lnSpc>
                <a:spcPts val="2375"/>
              </a:lnSpc>
            </a:pPr>
            <a:r>
              <a:rPr lang="en-US" sz="1937">
                <a:solidFill>
                  <a:srgbClr val="2C2821"/>
                </a:solidFill>
                <a:latin typeface="Alice"/>
                <a:ea typeface="Alice"/>
                <a:cs typeface="Alice"/>
                <a:sym typeface="Alice"/>
              </a:rPr>
              <a:t>Seasonal Adjustment</a:t>
            </a:r>
          </a:p>
        </p:txBody>
      </p:sp>
      <p:sp>
        <p:nvSpPr>
          <p:cNvPr id="34" name="TextBox 34"/>
          <p:cNvSpPr txBox="1"/>
          <p:nvPr/>
        </p:nvSpPr>
        <p:spPr>
          <a:xfrm>
            <a:off x="900863" y="4985499"/>
            <a:ext cx="3299374" cy="286198"/>
          </a:xfrm>
          <a:prstGeom prst="rect">
            <a:avLst/>
          </a:prstGeom>
        </p:spPr>
        <p:txBody>
          <a:bodyPr lIns="0" tIns="0" rIns="0" bIns="0" rtlCol="0" anchor="t">
            <a:spAutoFit/>
          </a:bodyPr>
          <a:lstStyle/>
          <a:p>
            <a:pPr algn="l">
              <a:lnSpc>
                <a:spcPts val="2062"/>
              </a:lnSpc>
            </a:pPr>
            <a:r>
              <a:rPr lang="en-US" sz="1500">
                <a:solidFill>
                  <a:srgbClr val="2C2821"/>
                </a:solidFill>
                <a:latin typeface="Lora"/>
                <a:ea typeface="Lora"/>
                <a:cs typeface="Lora"/>
                <a:sym typeface="Lora"/>
              </a:rPr>
              <a:t>Fixed recommendations</a:t>
            </a:r>
          </a:p>
        </p:txBody>
      </p:sp>
      <p:grpSp>
        <p:nvGrpSpPr>
          <p:cNvPr id="35" name="Group 35"/>
          <p:cNvGrpSpPr/>
          <p:nvPr/>
        </p:nvGrpSpPr>
        <p:grpSpPr>
          <a:xfrm>
            <a:off x="4548195" y="4320245"/>
            <a:ext cx="3864616" cy="1191216"/>
            <a:chOff x="0" y="0"/>
            <a:chExt cx="5152822" cy="1588287"/>
          </a:xfrm>
        </p:grpSpPr>
        <p:sp>
          <p:nvSpPr>
            <p:cNvPr id="36" name="Freeform 36"/>
            <p:cNvSpPr/>
            <p:nvPr/>
          </p:nvSpPr>
          <p:spPr>
            <a:xfrm>
              <a:off x="19050" y="19050"/>
              <a:ext cx="5114671" cy="1550162"/>
            </a:xfrm>
            <a:custGeom>
              <a:avLst/>
              <a:gdLst/>
              <a:ahLst/>
              <a:cxnLst/>
              <a:rect l="l" t="t" r="r" b="b"/>
              <a:pathLst>
                <a:path w="5114671" h="1550162">
                  <a:moveTo>
                    <a:pt x="0" y="182880"/>
                  </a:moveTo>
                  <a:cubicBezTo>
                    <a:pt x="0" y="81915"/>
                    <a:pt x="83312" y="0"/>
                    <a:pt x="185928" y="0"/>
                  </a:cubicBezTo>
                  <a:lnTo>
                    <a:pt x="4928743" y="0"/>
                  </a:lnTo>
                  <a:cubicBezTo>
                    <a:pt x="5031486" y="0"/>
                    <a:pt x="5114671" y="81915"/>
                    <a:pt x="5114671" y="182880"/>
                  </a:cubicBezTo>
                  <a:lnTo>
                    <a:pt x="5114671" y="1367282"/>
                  </a:lnTo>
                  <a:cubicBezTo>
                    <a:pt x="5114671" y="1468247"/>
                    <a:pt x="5031359" y="1550162"/>
                    <a:pt x="4928743" y="1550162"/>
                  </a:cubicBezTo>
                  <a:lnTo>
                    <a:pt x="185928" y="1550162"/>
                  </a:lnTo>
                  <a:cubicBezTo>
                    <a:pt x="83185" y="1550162"/>
                    <a:pt x="0" y="1468247"/>
                    <a:pt x="0" y="1367282"/>
                  </a:cubicBezTo>
                  <a:close/>
                </a:path>
              </a:pathLst>
            </a:custGeom>
            <a:solidFill>
              <a:srgbClr val="EBF4EC"/>
            </a:solidFill>
            <a:ln w="12700">
              <a:solidFill>
                <a:srgbClr val="000000"/>
              </a:solidFill>
            </a:ln>
          </p:spPr>
          <p:txBody>
            <a:bodyPr/>
            <a:lstStyle/>
            <a:p>
              <a:endParaRPr lang="en-IN"/>
            </a:p>
          </p:txBody>
        </p:sp>
        <p:sp>
          <p:nvSpPr>
            <p:cNvPr id="37" name="Freeform 37"/>
            <p:cNvSpPr/>
            <p:nvPr/>
          </p:nvSpPr>
          <p:spPr>
            <a:xfrm>
              <a:off x="0" y="0"/>
              <a:ext cx="5152771" cy="1588262"/>
            </a:xfrm>
            <a:custGeom>
              <a:avLst/>
              <a:gdLst/>
              <a:ahLst/>
              <a:cxnLst/>
              <a:rect l="l" t="t" r="r" b="b"/>
              <a:pathLst>
                <a:path w="5152771" h="1588262">
                  <a:moveTo>
                    <a:pt x="0" y="201930"/>
                  </a:moveTo>
                  <a:cubicBezTo>
                    <a:pt x="0" y="90043"/>
                    <a:pt x="92075" y="0"/>
                    <a:pt x="204978" y="0"/>
                  </a:cubicBezTo>
                  <a:lnTo>
                    <a:pt x="4947793" y="0"/>
                  </a:lnTo>
                  <a:lnTo>
                    <a:pt x="4947793" y="19050"/>
                  </a:lnTo>
                  <a:lnTo>
                    <a:pt x="4947793" y="0"/>
                  </a:lnTo>
                  <a:cubicBezTo>
                    <a:pt x="5060696" y="0"/>
                    <a:pt x="5152771" y="90043"/>
                    <a:pt x="5152771" y="201930"/>
                  </a:cubicBezTo>
                  <a:lnTo>
                    <a:pt x="5133721" y="201930"/>
                  </a:lnTo>
                  <a:lnTo>
                    <a:pt x="5152771" y="201930"/>
                  </a:lnTo>
                  <a:lnTo>
                    <a:pt x="5152771" y="1386332"/>
                  </a:lnTo>
                  <a:lnTo>
                    <a:pt x="5133721" y="1386332"/>
                  </a:lnTo>
                  <a:lnTo>
                    <a:pt x="5152771" y="1386332"/>
                  </a:lnTo>
                  <a:cubicBezTo>
                    <a:pt x="5152771" y="1498092"/>
                    <a:pt x="5060696" y="1588262"/>
                    <a:pt x="4947793" y="1588262"/>
                  </a:cubicBezTo>
                  <a:lnTo>
                    <a:pt x="4947793" y="1569212"/>
                  </a:lnTo>
                  <a:lnTo>
                    <a:pt x="4947793" y="1588262"/>
                  </a:lnTo>
                  <a:lnTo>
                    <a:pt x="204978" y="1588262"/>
                  </a:lnTo>
                  <a:lnTo>
                    <a:pt x="204978" y="1569212"/>
                  </a:lnTo>
                  <a:lnTo>
                    <a:pt x="204978" y="1588262"/>
                  </a:lnTo>
                  <a:cubicBezTo>
                    <a:pt x="92075" y="1588262"/>
                    <a:pt x="0" y="1498219"/>
                    <a:pt x="0" y="1386332"/>
                  </a:cubicBezTo>
                  <a:lnTo>
                    <a:pt x="0" y="201930"/>
                  </a:lnTo>
                  <a:lnTo>
                    <a:pt x="19050" y="201930"/>
                  </a:lnTo>
                  <a:lnTo>
                    <a:pt x="0" y="201930"/>
                  </a:lnTo>
                  <a:moveTo>
                    <a:pt x="38100" y="201930"/>
                  </a:moveTo>
                  <a:lnTo>
                    <a:pt x="38100" y="1386332"/>
                  </a:lnTo>
                  <a:lnTo>
                    <a:pt x="19050" y="1386332"/>
                  </a:lnTo>
                  <a:lnTo>
                    <a:pt x="38100" y="1386332"/>
                  </a:lnTo>
                  <a:cubicBezTo>
                    <a:pt x="38100" y="1476502"/>
                    <a:pt x="112522" y="1550162"/>
                    <a:pt x="204978" y="1550162"/>
                  </a:cubicBezTo>
                  <a:lnTo>
                    <a:pt x="4947793" y="1550162"/>
                  </a:lnTo>
                  <a:cubicBezTo>
                    <a:pt x="5040249" y="1550162"/>
                    <a:pt x="5114671" y="1476502"/>
                    <a:pt x="5114671" y="1386332"/>
                  </a:cubicBezTo>
                  <a:lnTo>
                    <a:pt x="5114671" y="201930"/>
                  </a:lnTo>
                  <a:cubicBezTo>
                    <a:pt x="5114671" y="111760"/>
                    <a:pt x="5040249" y="38100"/>
                    <a:pt x="4947793" y="38100"/>
                  </a:cubicBezTo>
                  <a:lnTo>
                    <a:pt x="204978" y="38100"/>
                  </a:lnTo>
                  <a:lnTo>
                    <a:pt x="204978" y="19050"/>
                  </a:lnTo>
                  <a:lnTo>
                    <a:pt x="204978" y="38100"/>
                  </a:lnTo>
                  <a:cubicBezTo>
                    <a:pt x="112522" y="38100"/>
                    <a:pt x="38100" y="111760"/>
                    <a:pt x="38100" y="201930"/>
                  </a:cubicBezTo>
                  <a:close/>
                </a:path>
              </a:pathLst>
            </a:custGeom>
            <a:solidFill>
              <a:srgbClr val="B2BEB5"/>
            </a:solidFill>
            <a:ln w="12700">
              <a:solidFill>
                <a:srgbClr val="000000"/>
              </a:solidFill>
            </a:ln>
          </p:spPr>
          <p:txBody>
            <a:bodyPr/>
            <a:lstStyle/>
            <a:p>
              <a:endParaRPr lang="en-IN"/>
            </a:p>
          </p:txBody>
        </p:sp>
      </p:grpSp>
      <p:grpSp>
        <p:nvGrpSpPr>
          <p:cNvPr id="38" name="Group 38"/>
          <p:cNvGrpSpPr/>
          <p:nvPr/>
        </p:nvGrpSpPr>
        <p:grpSpPr>
          <a:xfrm>
            <a:off x="4533908" y="4334532"/>
            <a:ext cx="114300" cy="1162641"/>
            <a:chOff x="0" y="0"/>
            <a:chExt cx="152400" cy="1550187"/>
          </a:xfrm>
        </p:grpSpPr>
        <p:sp>
          <p:nvSpPr>
            <p:cNvPr id="39" name="Freeform 39"/>
            <p:cNvSpPr/>
            <p:nvPr/>
          </p:nvSpPr>
          <p:spPr>
            <a:xfrm>
              <a:off x="0" y="0"/>
              <a:ext cx="152400" cy="1550162"/>
            </a:xfrm>
            <a:custGeom>
              <a:avLst/>
              <a:gdLst/>
              <a:ahLst/>
              <a:cxnLst/>
              <a:rect l="l" t="t" r="r" b="b"/>
              <a:pathLst>
                <a:path w="152400" h="1550162">
                  <a:moveTo>
                    <a:pt x="0" y="39370"/>
                  </a:moveTo>
                  <a:cubicBezTo>
                    <a:pt x="0" y="17653"/>
                    <a:pt x="17653" y="0"/>
                    <a:pt x="39370" y="0"/>
                  </a:cubicBezTo>
                  <a:lnTo>
                    <a:pt x="113030" y="0"/>
                  </a:lnTo>
                  <a:cubicBezTo>
                    <a:pt x="134747" y="0"/>
                    <a:pt x="152400" y="17653"/>
                    <a:pt x="152400" y="39370"/>
                  </a:cubicBezTo>
                  <a:lnTo>
                    <a:pt x="152400" y="1510792"/>
                  </a:lnTo>
                  <a:cubicBezTo>
                    <a:pt x="152400" y="1532509"/>
                    <a:pt x="134747" y="1550162"/>
                    <a:pt x="113030" y="1550162"/>
                  </a:cubicBezTo>
                  <a:lnTo>
                    <a:pt x="39370" y="1550162"/>
                  </a:lnTo>
                  <a:cubicBezTo>
                    <a:pt x="17653" y="1550162"/>
                    <a:pt x="0" y="1532509"/>
                    <a:pt x="0" y="1510792"/>
                  </a:cubicBezTo>
                  <a:close/>
                </a:path>
              </a:pathLst>
            </a:custGeom>
            <a:solidFill>
              <a:srgbClr val="B2BEB5"/>
            </a:solidFill>
            <a:ln w="12700">
              <a:solidFill>
                <a:srgbClr val="000000"/>
              </a:solidFill>
            </a:ln>
          </p:spPr>
          <p:txBody>
            <a:bodyPr/>
            <a:lstStyle/>
            <a:p>
              <a:endParaRPr lang="en-IN"/>
            </a:p>
          </p:txBody>
        </p:sp>
      </p:grpSp>
      <p:sp>
        <p:nvSpPr>
          <p:cNvPr id="40" name="TextBox 40"/>
          <p:cNvSpPr txBox="1"/>
          <p:nvPr/>
        </p:nvSpPr>
        <p:spPr>
          <a:xfrm>
            <a:off x="4873684" y="4550473"/>
            <a:ext cx="2462660" cy="317297"/>
          </a:xfrm>
          <a:prstGeom prst="rect">
            <a:avLst/>
          </a:prstGeom>
        </p:spPr>
        <p:txBody>
          <a:bodyPr lIns="0" tIns="0" rIns="0" bIns="0" rtlCol="0" anchor="t">
            <a:spAutoFit/>
          </a:bodyPr>
          <a:lstStyle/>
          <a:p>
            <a:pPr algn="l">
              <a:lnSpc>
                <a:spcPts val="2375"/>
              </a:lnSpc>
            </a:pPr>
            <a:r>
              <a:rPr lang="en-US" sz="1937">
                <a:solidFill>
                  <a:srgbClr val="2C2821"/>
                </a:solidFill>
                <a:latin typeface="Alice"/>
                <a:ea typeface="Alice"/>
                <a:cs typeface="Alice"/>
                <a:sym typeface="Alice"/>
              </a:rPr>
              <a:t>Geography</a:t>
            </a:r>
          </a:p>
        </p:txBody>
      </p:sp>
      <p:sp>
        <p:nvSpPr>
          <p:cNvPr id="41" name="TextBox 41"/>
          <p:cNvSpPr txBox="1"/>
          <p:nvPr/>
        </p:nvSpPr>
        <p:spPr>
          <a:xfrm>
            <a:off x="4873684" y="4985499"/>
            <a:ext cx="3299374" cy="286198"/>
          </a:xfrm>
          <a:prstGeom prst="rect">
            <a:avLst/>
          </a:prstGeom>
        </p:spPr>
        <p:txBody>
          <a:bodyPr lIns="0" tIns="0" rIns="0" bIns="0" rtlCol="0" anchor="t">
            <a:spAutoFit/>
          </a:bodyPr>
          <a:lstStyle/>
          <a:p>
            <a:pPr algn="l">
              <a:lnSpc>
                <a:spcPts val="2062"/>
              </a:lnSpc>
            </a:pPr>
            <a:r>
              <a:rPr lang="en-US" sz="1500">
                <a:solidFill>
                  <a:srgbClr val="2C2821"/>
                </a:solidFill>
                <a:latin typeface="Lora"/>
                <a:ea typeface="Lora"/>
                <a:cs typeface="Lora"/>
                <a:sym typeface="Lora"/>
              </a:rPr>
              <a:t>Global generic approach</a:t>
            </a:r>
          </a:p>
        </p:txBody>
      </p:sp>
      <p:grpSp>
        <p:nvGrpSpPr>
          <p:cNvPr id="42" name="Group 42"/>
          <p:cNvGrpSpPr/>
          <p:nvPr/>
        </p:nvGrpSpPr>
        <p:grpSpPr>
          <a:xfrm>
            <a:off x="575375" y="5619655"/>
            <a:ext cx="3864616" cy="1191216"/>
            <a:chOff x="0" y="0"/>
            <a:chExt cx="5152822" cy="1588287"/>
          </a:xfrm>
        </p:grpSpPr>
        <p:sp>
          <p:nvSpPr>
            <p:cNvPr id="43" name="Freeform 43"/>
            <p:cNvSpPr/>
            <p:nvPr/>
          </p:nvSpPr>
          <p:spPr>
            <a:xfrm>
              <a:off x="19050" y="19050"/>
              <a:ext cx="5114671" cy="1550162"/>
            </a:xfrm>
            <a:custGeom>
              <a:avLst/>
              <a:gdLst/>
              <a:ahLst/>
              <a:cxnLst/>
              <a:rect l="l" t="t" r="r" b="b"/>
              <a:pathLst>
                <a:path w="5114671" h="1550162">
                  <a:moveTo>
                    <a:pt x="0" y="182880"/>
                  </a:moveTo>
                  <a:cubicBezTo>
                    <a:pt x="0" y="81915"/>
                    <a:pt x="83312" y="0"/>
                    <a:pt x="185928" y="0"/>
                  </a:cubicBezTo>
                  <a:lnTo>
                    <a:pt x="4928743" y="0"/>
                  </a:lnTo>
                  <a:cubicBezTo>
                    <a:pt x="5031486" y="0"/>
                    <a:pt x="5114671" y="81915"/>
                    <a:pt x="5114671" y="182880"/>
                  </a:cubicBezTo>
                  <a:lnTo>
                    <a:pt x="5114671" y="1367282"/>
                  </a:lnTo>
                  <a:cubicBezTo>
                    <a:pt x="5114671" y="1468247"/>
                    <a:pt x="5031359" y="1550162"/>
                    <a:pt x="4928743" y="1550162"/>
                  </a:cubicBezTo>
                  <a:lnTo>
                    <a:pt x="185928" y="1550162"/>
                  </a:lnTo>
                  <a:cubicBezTo>
                    <a:pt x="83185" y="1550162"/>
                    <a:pt x="0" y="1468247"/>
                    <a:pt x="0" y="1367282"/>
                  </a:cubicBezTo>
                  <a:close/>
                </a:path>
              </a:pathLst>
            </a:custGeom>
            <a:solidFill>
              <a:srgbClr val="EBF4EC"/>
            </a:solidFill>
            <a:ln w="12700">
              <a:solidFill>
                <a:srgbClr val="000000"/>
              </a:solidFill>
            </a:ln>
          </p:spPr>
          <p:txBody>
            <a:bodyPr/>
            <a:lstStyle/>
            <a:p>
              <a:endParaRPr lang="en-IN"/>
            </a:p>
          </p:txBody>
        </p:sp>
        <p:sp>
          <p:nvSpPr>
            <p:cNvPr id="44" name="Freeform 44"/>
            <p:cNvSpPr/>
            <p:nvPr/>
          </p:nvSpPr>
          <p:spPr>
            <a:xfrm>
              <a:off x="0" y="0"/>
              <a:ext cx="5152771" cy="1588262"/>
            </a:xfrm>
            <a:custGeom>
              <a:avLst/>
              <a:gdLst/>
              <a:ahLst/>
              <a:cxnLst/>
              <a:rect l="l" t="t" r="r" b="b"/>
              <a:pathLst>
                <a:path w="5152771" h="1588262">
                  <a:moveTo>
                    <a:pt x="0" y="201930"/>
                  </a:moveTo>
                  <a:cubicBezTo>
                    <a:pt x="0" y="90043"/>
                    <a:pt x="92075" y="0"/>
                    <a:pt x="204978" y="0"/>
                  </a:cubicBezTo>
                  <a:lnTo>
                    <a:pt x="4947793" y="0"/>
                  </a:lnTo>
                  <a:lnTo>
                    <a:pt x="4947793" y="19050"/>
                  </a:lnTo>
                  <a:lnTo>
                    <a:pt x="4947793" y="0"/>
                  </a:lnTo>
                  <a:cubicBezTo>
                    <a:pt x="5060696" y="0"/>
                    <a:pt x="5152771" y="90043"/>
                    <a:pt x="5152771" y="201930"/>
                  </a:cubicBezTo>
                  <a:lnTo>
                    <a:pt x="5133721" y="201930"/>
                  </a:lnTo>
                  <a:lnTo>
                    <a:pt x="5152771" y="201930"/>
                  </a:lnTo>
                  <a:lnTo>
                    <a:pt x="5152771" y="1386332"/>
                  </a:lnTo>
                  <a:lnTo>
                    <a:pt x="5133721" y="1386332"/>
                  </a:lnTo>
                  <a:lnTo>
                    <a:pt x="5152771" y="1386332"/>
                  </a:lnTo>
                  <a:cubicBezTo>
                    <a:pt x="5152771" y="1498092"/>
                    <a:pt x="5060696" y="1588262"/>
                    <a:pt x="4947793" y="1588262"/>
                  </a:cubicBezTo>
                  <a:lnTo>
                    <a:pt x="4947793" y="1569212"/>
                  </a:lnTo>
                  <a:lnTo>
                    <a:pt x="4947793" y="1588262"/>
                  </a:lnTo>
                  <a:lnTo>
                    <a:pt x="204978" y="1588262"/>
                  </a:lnTo>
                  <a:lnTo>
                    <a:pt x="204978" y="1569212"/>
                  </a:lnTo>
                  <a:lnTo>
                    <a:pt x="204978" y="1588262"/>
                  </a:lnTo>
                  <a:cubicBezTo>
                    <a:pt x="92075" y="1588262"/>
                    <a:pt x="0" y="1498219"/>
                    <a:pt x="0" y="1386332"/>
                  </a:cubicBezTo>
                  <a:lnTo>
                    <a:pt x="0" y="201930"/>
                  </a:lnTo>
                  <a:lnTo>
                    <a:pt x="19050" y="201930"/>
                  </a:lnTo>
                  <a:lnTo>
                    <a:pt x="0" y="201930"/>
                  </a:lnTo>
                  <a:moveTo>
                    <a:pt x="38100" y="201930"/>
                  </a:moveTo>
                  <a:lnTo>
                    <a:pt x="38100" y="1386332"/>
                  </a:lnTo>
                  <a:lnTo>
                    <a:pt x="19050" y="1386332"/>
                  </a:lnTo>
                  <a:lnTo>
                    <a:pt x="38100" y="1386332"/>
                  </a:lnTo>
                  <a:cubicBezTo>
                    <a:pt x="38100" y="1476502"/>
                    <a:pt x="112522" y="1550162"/>
                    <a:pt x="204978" y="1550162"/>
                  </a:cubicBezTo>
                  <a:lnTo>
                    <a:pt x="4947793" y="1550162"/>
                  </a:lnTo>
                  <a:cubicBezTo>
                    <a:pt x="5040249" y="1550162"/>
                    <a:pt x="5114671" y="1476502"/>
                    <a:pt x="5114671" y="1386332"/>
                  </a:cubicBezTo>
                  <a:lnTo>
                    <a:pt x="5114671" y="201930"/>
                  </a:lnTo>
                  <a:cubicBezTo>
                    <a:pt x="5114671" y="111760"/>
                    <a:pt x="5040249" y="38100"/>
                    <a:pt x="4947793" y="38100"/>
                  </a:cubicBezTo>
                  <a:lnTo>
                    <a:pt x="204978" y="38100"/>
                  </a:lnTo>
                  <a:lnTo>
                    <a:pt x="204978" y="19050"/>
                  </a:lnTo>
                  <a:lnTo>
                    <a:pt x="204978" y="38100"/>
                  </a:lnTo>
                  <a:cubicBezTo>
                    <a:pt x="112522" y="38100"/>
                    <a:pt x="38100" y="111760"/>
                    <a:pt x="38100" y="201930"/>
                  </a:cubicBezTo>
                  <a:close/>
                </a:path>
              </a:pathLst>
            </a:custGeom>
            <a:solidFill>
              <a:srgbClr val="B2BEB5"/>
            </a:solidFill>
            <a:ln w="12700">
              <a:solidFill>
                <a:srgbClr val="000000"/>
              </a:solidFill>
            </a:ln>
          </p:spPr>
          <p:txBody>
            <a:bodyPr/>
            <a:lstStyle/>
            <a:p>
              <a:endParaRPr lang="en-IN"/>
            </a:p>
          </p:txBody>
        </p:sp>
      </p:grpSp>
      <p:grpSp>
        <p:nvGrpSpPr>
          <p:cNvPr id="45" name="Group 45"/>
          <p:cNvGrpSpPr/>
          <p:nvPr/>
        </p:nvGrpSpPr>
        <p:grpSpPr>
          <a:xfrm>
            <a:off x="561088" y="5633942"/>
            <a:ext cx="114300" cy="1162641"/>
            <a:chOff x="0" y="0"/>
            <a:chExt cx="152400" cy="1550187"/>
          </a:xfrm>
        </p:grpSpPr>
        <p:sp>
          <p:nvSpPr>
            <p:cNvPr id="46" name="Freeform 46"/>
            <p:cNvSpPr/>
            <p:nvPr/>
          </p:nvSpPr>
          <p:spPr>
            <a:xfrm>
              <a:off x="0" y="0"/>
              <a:ext cx="152400" cy="1550162"/>
            </a:xfrm>
            <a:custGeom>
              <a:avLst/>
              <a:gdLst/>
              <a:ahLst/>
              <a:cxnLst/>
              <a:rect l="l" t="t" r="r" b="b"/>
              <a:pathLst>
                <a:path w="152400" h="1550162">
                  <a:moveTo>
                    <a:pt x="0" y="39370"/>
                  </a:moveTo>
                  <a:cubicBezTo>
                    <a:pt x="0" y="17653"/>
                    <a:pt x="17653" y="0"/>
                    <a:pt x="39370" y="0"/>
                  </a:cubicBezTo>
                  <a:lnTo>
                    <a:pt x="113030" y="0"/>
                  </a:lnTo>
                  <a:cubicBezTo>
                    <a:pt x="134747" y="0"/>
                    <a:pt x="152400" y="17653"/>
                    <a:pt x="152400" y="39370"/>
                  </a:cubicBezTo>
                  <a:lnTo>
                    <a:pt x="152400" y="1510792"/>
                  </a:lnTo>
                  <a:cubicBezTo>
                    <a:pt x="152400" y="1532509"/>
                    <a:pt x="134747" y="1550162"/>
                    <a:pt x="113030" y="1550162"/>
                  </a:cubicBezTo>
                  <a:lnTo>
                    <a:pt x="39370" y="1550162"/>
                  </a:lnTo>
                  <a:cubicBezTo>
                    <a:pt x="17653" y="1550162"/>
                    <a:pt x="0" y="1532509"/>
                    <a:pt x="0" y="1510792"/>
                  </a:cubicBezTo>
                  <a:close/>
                </a:path>
              </a:pathLst>
            </a:custGeom>
            <a:solidFill>
              <a:srgbClr val="B2BEB5"/>
            </a:solidFill>
            <a:ln w="12700">
              <a:solidFill>
                <a:srgbClr val="000000"/>
              </a:solidFill>
            </a:ln>
          </p:spPr>
          <p:txBody>
            <a:bodyPr/>
            <a:lstStyle/>
            <a:p>
              <a:endParaRPr lang="en-IN"/>
            </a:p>
          </p:txBody>
        </p:sp>
      </p:grpSp>
      <p:sp>
        <p:nvSpPr>
          <p:cNvPr id="47" name="TextBox 47"/>
          <p:cNvSpPr txBox="1"/>
          <p:nvPr/>
        </p:nvSpPr>
        <p:spPr>
          <a:xfrm>
            <a:off x="900863" y="5849893"/>
            <a:ext cx="2462660" cy="317297"/>
          </a:xfrm>
          <a:prstGeom prst="rect">
            <a:avLst/>
          </a:prstGeom>
        </p:spPr>
        <p:txBody>
          <a:bodyPr lIns="0" tIns="0" rIns="0" bIns="0" rtlCol="0" anchor="t">
            <a:spAutoFit/>
          </a:bodyPr>
          <a:lstStyle/>
          <a:p>
            <a:pPr algn="l">
              <a:lnSpc>
                <a:spcPts val="2375"/>
              </a:lnSpc>
            </a:pPr>
            <a:r>
              <a:rPr lang="en-US" sz="1937">
                <a:solidFill>
                  <a:srgbClr val="2C2821"/>
                </a:solidFill>
                <a:latin typeface="Alice"/>
                <a:ea typeface="Alice"/>
                <a:cs typeface="Alice"/>
                <a:sym typeface="Alice"/>
              </a:rPr>
              <a:t>Timing</a:t>
            </a:r>
          </a:p>
        </p:txBody>
      </p:sp>
      <p:sp>
        <p:nvSpPr>
          <p:cNvPr id="48" name="TextBox 48"/>
          <p:cNvSpPr txBox="1"/>
          <p:nvPr/>
        </p:nvSpPr>
        <p:spPr>
          <a:xfrm>
            <a:off x="900863" y="6284919"/>
            <a:ext cx="3299374" cy="286198"/>
          </a:xfrm>
          <a:prstGeom prst="rect">
            <a:avLst/>
          </a:prstGeom>
        </p:spPr>
        <p:txBody>
          <a:bodyPr lIns="0" tIns="0" rIns="0" bIns="0" rtlCol="0" anchor="t">
            <a:spAutoFit/>
          </a:bodyPr>
          <a:lstStyle/>
          <a:p>
            <a:pPr algn="l">
              <a:lnSpc>
                <a:spcPts val="2062"/>
              </a:lnSpc>
            </a:pPr>
            <a:r>
              <a:rPr lang="en-US" sz="1500">
                <a:solidFill>
                  <a:srgbClr val="2C2821"/>
                </a:solidFill>
                <a:latin typeface="Lora"/>
                <a:ea typeface="Lora"/>
                <a:cs typeface="Lora"/>
                <a:sym typeface="Lora"/>
              </a:rPr>
              <a:t>Random meal suggestions</a:t>
            </a:r>
          </a:p>
        </p:txBody>
      </p:sp>
      <p:grpSp>
        <p:nvGrpSpPr>
          <p:cNvPr id="49" name="Group 49"/>
          <p:cNvGrpSpPr/>
          <p:nvPr/>
        </p:nvGrpSpPr>
        <p:grpSpPr>
          <a:xfrm>
            <a:off x="4548195" y="5619655"/>
            <a:ext cx="3864616" cy="1191216"/>
            <a:chOff x="0" y="0"/>
            <a:chExt cx="5152822" cy="1588287"/>
          </a:xfrm>
        </p:grpSpPr>
        <p:sp>
          <p:nvSpPr>
            <p:cNvPr id="50" name="Freeform 50"/>
            <p:cNvSpPr/>
            <p:nvPr/>
          </p:nvSpPr>
          <p:spPr>
            <a:xfrm>
              <a:off x="19050" y="19050"/>
              <a:ext cx="5114671" cy="1550162"/>
            </a:xfrm>
            <a:custGeom>
              <a:avLst/>
              <a:gdLst/>
              <a:ahLst/>
              <a:cxnLst/>
              <a:rect l="l" t="t" r="r" b="b"/>
              <a:pathLst>
                <a:path w="5114671" h="1550162">
                  <a:moveTo>
                    <a:pt x="0" y="182880"/>
                  </a:moveTo>
                  <a:cubicBezTo>
                    <a:pt x="0" y="81915"/>
                    <a:pt x="83312" y="0"/>
                    <a:pt x="185928" y="0"/>
                  </a:cubicBezTo>
                  <a:lnTo>
                    <a:pt x="4928743" y="0"/>
                  </a:lnTo>
                  <a:cubicBezTo>
                    <a:pt x="5031486" y="0"/>
                    <a:pt x="5114671" y="81915"/>
                    <a:pt x="5114671" y="182880"/>
                  </a:cubicBezTo>
                  <a:lnTo>
                    <a:pt x="5114671" y="1367282"/>
                  </a:lnTo>
                  <a:cubicBezTo>
                    <a:pt x="5114671" y="1468247"/>
                    <a:pt x="5031359" y="1550162"/>
                    <a:pt x="4928743" y="1550162"/>
                  </a:cubicBezTo>
                  <a:lnTo>
                    <a:pt x="185928" y="1550162"/>
                  </a:lnTo>
                  <a:cubicBezTo>
                    <a:pt x="83185" y="1550162"/>
                    <a:pt x="0" y="1468247"/>
                    <a:pt x="0" y="1367282"/>
                  </a:cubicBezTo>
                  <a:close/>
                </a:path>
              </a:pathLst>
            </a:custGeom>
            <a:solidFill>
              <a:srgbClr val="EBF4EC"/>
            </a:solidFill>
            <a:ln w="12700">
              <a:solidFill>
                <a:srgbClr val="000000"/>
              </a:solidFill>
            </a:ln>
          </p:spPr>
          <p:txBody>
            <a:bodyPr/>
            <a:lstStyle/>
            <a:p>
              <a:endParaRPr lang="en-IN"/>
            </a:p>
          </p:txBody>
        </p:sp>
        <p:sp>
          <p:nvSpPr>
            <p:cNvPr id="51" name="Freeform 51"/>
            <p:cNvSpPr/>
            <p:nvPr/>
          </p:nvSpPr>
          <p:spPr>
            <a:xfrm>
              <a:off x="0" y="0"/>
              <a:ext cx="5152771" cy="1588262"/>
            </a:xfrm>
            <a:custGeom>
              <a:avLst/>
              <a:gdLst/>
              <a:ahLst/>
              <a:cxnLst/>
              <a:rect l="l" t="t" r="r" b="b"/>
              <a:pathLst>
                <a:path w="5152771" h="1588262">
                  <a:moveTo>
                    <a:pt x="0" y="201930"/>
                  </a:moveTo>
                  <a:cubicBezTo>
                    <a:pt x="0" y="90043"/>
                    <a:pt x="92075" y="0"/>
                    <a:pt x="204978" y="0"/>
                  </a:cubicBezTo>
                  <a:lnTo>
                    <a:pt x="4947793" y="0"/>
                  </a:lnTo>
                  <a:lnTo>
                    <a:pt x="4947793" y="19050"/>
                  </a:lnTo>
                  <a:lnTo>
                    <a:pt x="4947793" y="0"/>
                  </a:lnTo>
                  <a:cubicBezTo>
                    <a:pt x="5060696" y="0"/>
                    <a:pt x="5152771" y="90043"/>
                    <a:pt x="5152771" y="201930"/>
                  </a:cubicBezTo>
                  <a:lnTo>
                    <a:pt x="5133721" y="201930"/>
                  </a:lnTo>
                  <a:lnTo>
                    <a:pt x="5152771" y="201930"/>
                  </a:lnTo>
                  <a:lnTo>
                    <a:pt x="5152771" y="1386332"/>
                  </a:lnTo>
                  <a:lnTo>
                    <a:pt x="5133721" y="1386332"/>
                  </a:lnTo>
                  <a:lnTo>
                    <a:pt x="5152771" y="1386332"/>
                  </a:lnTo>
                  <a:cubicBezTo>
                    <a:pt x="5152771" y="1498092"/>
                    <a:pt x="5060696" y="1588262"/>
                    <a:pt x="4947793" y="1588262"/>
                  </a:cubicBezTo>
                  <a:lnTo>
                    <a:pt x="4947793" y="1569212"/>
                  </a:lnTo>
                  <a:lnTo>
                    <a:pt x="4947793" y="1588262"/>
                  </a:lnTo>
                  <a:lnTo>
                    <a:pt x="204978" y="1588262"/>
                  </a:lnTo>
                  <a:lnTo>
                    <a:pt x="204978" y="1569212"/>
                  </a:lnTo>
                  <a:lnTo>
                    <a:pt x="204978" y="1588262"/>
                  </a:lnTo>
                  <a:cubicBezTo>
                    <a:pt x="92075" y="1588262"/>
                    <a:pt x="0" y="1498219"/>
                    <a:pt x="0" y="1386332"/>
                  </a:cubicBezTo>
                  <a:lnTo>
                    <a:pt x="0" y="201930"/>
                  </a:lnTo>
                  <a:lnTo>
                    <a:pt x="19050" y="201930"/>
                  </a:lnTo>
                  <a:lnTo>
                    <a:pt x="0" y="201930"/>
                  </a:lnTo>
                  <a:moveTo>
                    <a:pt x="38100" y="201930"/>
                  </a:moveTo>
                  <a:lnTo>
                    <a:pt x="38100" y="1386332"/>
                  </a:lnTo>
                  <a:lnTo>
                    <a:pt x="19050" y="1386332"/>
                  </a:lnTo>
                  <a:lnTo>
                    <a:pt x="38100" y="1386332"/>
                  </a:lnTo>
                  <a:cubicBezTo>
                    <a:pt x="38100" y="1476502"/>
                    <a:pt x="112522" y="1550162"/>
                    <a:pt x="204978" y="1550162"/>
                  </a:cubicBezTo>
                  <a:lnTo>
                    <a:pt x="4947793" y="1550162"/>
                  </a:lnTo>
                  <a:cubicBezTo>
                    <a:pt x="5040249" y="1550162"/>
                    <a:pt x="5114671" y="1476502"/>
                    <a:pt x="5114671" y="1386332"/>
                  </a:cubicBezTo>
                  <a:lnTo>
                    <a:pt x="5114671" y="201930"/>
                  </a:lnTo>
                  <a:cubicBezTo>
                    <a:pt x="5114671" y="111760"/>
                    <a:pt x="5040249" y="38100"/>
                    <a:pt x="4947793" y="38100"/>
                  </a:cubicBezTo>
                  <a:lnTo>
                    <a:pt x="204978" y="38100"/>
                  </a:lnTo>
                  <a:lnTo>
                    <a:pt x="204978" y="19050"/>
                  </a:lnTo>
                  <a:lnTo>
                    <a:pt x="204978" y="38100"/>
                  </a:lnTo>
                  <a:cubicBezTo>
                    <a:pt x="112522" y="38100"/>
                    <a:pt x="38100" y="111760"/>
                    <a:pt x="38100" y="201930"/>
                  </a:cubicBezTo>
                  <a:close/>
                </a:path>
              </a:pathLst>
            </a:custGeom>
            <a:solidFill>
              <a:srgbClr val="B2BEB5"/>
            </a:solidFill>
            <a:ln w="12700">
              <a:solidFill>
                <a:srgbClr val="000000"/>
              </a:solidFill>
            </a:ln>
          </p:spPr>
          <p:txBody>
            <a:bodyPr/>
            <a:lstStyle/>
            <a:p>
              <a:endParaRPr lang="en-IN"/>
            </a:p>
          </p:txBody>
        </p:sp>
      </p:grpSp>
      <p:grpSp>
        <p:nvGrpSpPr>
          <p:cNvPr id="52" name="Group 52"/>
          <p:cNvGrpSpPr/>
          <p:nvPr/>
        </p:nvGrpSpPr>
        <p:grpSpPr>
          <a:xfrm>
            <a:off x="4533908" y="5633942"/>
            <a:ext cx="114300" cy="1162641"/>
            <a:chOff x="0" y="0"/>
            <a:chExt cx="152400" cy="1550187"/>
          </a:xfrm>
        </p:grpSpPr>
        <p:sp>
          <p:nvSpPr>
            <p:cNvPr id="53" name="Freeform 53"/>
            <p:cNvSpPr/>
            <p:nvPr/>
          </p:nvSpPr>
          <p:spPr>
            <a:xfrm>
              <a:off x="0" y="0"/>
              <a:ext cx="152400" cy="1550162"/>
            </a:xfrm>
            <a:custGeom>
              <a:avLst/>
              <a:gdLst/>
              <a:ahLst/>
              <a:cxnLst/>
              <a:rect l="l" t="t" r="r" b="b"/>
              <a:pathLst>
                <a:path w="152400" h="1550162">
                  <a:moveTo>
                    <a:pt x="0" y="39370"/>
                  </a:moveTo>
                  <a:cubicBezTo>
                    <a:pt x="0" y="17653"/>
                    <a:pt x="17653" y="0"/>
                    <a:pt x="39370" y="0"/>
                  </a:cubicBezTo>
                  <a:lnTo>
                    <a:pt x="113030" y="0"/>
                  </a:lnTo>
                  <a:cubicBezTo>
                    <a:pt x="134747" y="0"/>
                    <a:pt x="152400" y="17653"/>
                    <a:pt x="152400" y="39370"/>
                  </a:cubicBezTo>
                  <a:lnTo>
                    <a:pt x="152400" y="1510792"/>
                  </a:lnTo>
                  <a:cubicBezTo>
                    <a:pt x="152400" y="1532509"/>
                    <a:pt x="134747" y="1550162"/>
                    <a:pt x="113030" y="1550162"/>
                  </a:cubicBezTo>
                  <a:lnTo>
                    <a:pt x="39370" y="1550162"/>
                  </a:lnTo>
                  <a:cubicBezTo>
                    <a:pt x="17653" y="1550162"/>
                    <a:pt x="0" y="1532509"/>
                    <a:pt x="0" y="1510792"/>
                  </a:cubicBezTo>
                  <a:close/>
                </a:path>
              </a:pathLst>
            </a:custGeom>
            <a:solidFill>
              <a:srgbClr val="B2BEB5"/>
            </a:solidFill>
            <a:ln w="12700">
              <a:solidFill>
                <a:srgbClr val="000000"/>
              </a:solidFill>
            </a:ln>
          </p:spPr>
          <p:txBody>
            <a:bodyPr/>
            <a:lstStyle/>
            <a:p>
              <a:endParaRPr lang="en-IN"/>
            </a:p>
          </p:txBody>
        </p:sp>
      </p:grpSp>
      <p:sp>
        <p:nvSpPr>
          <p:cNvPr id="54" name="TextBox 54"/>
          <p:cNvSpPr txBox="1"/>
          <p:nvPr/>
        </p:nvSpPr>
        <p:spPr>
          <a:xfrm>
            <a:off x="4873684" y="5849893"/>
            <a:ext cx="2462660" cy="317297"/>
          </a:xfrm>
          <a:prstGeom prst="rect">
            <a:avLst/>
          </a:prstGeom>
        </p:spPr>
        <p:txBody>
          <a:bodyPr lIns="0" tIns="0" rIns="0" bIns="0" rtlCol="0" anchor="t">
            <a:spAutoFit/>
          </a:bodyPr>
          <a:lstStyle/>
          <a:p>
            <a:pPr algn="l">
              <a:lnSpc>
                <a:spcPts val="2375"/>
              </a:lnSpc>
            </a:pPr>
            <a:r>
              <a:rPr lang="en-US" sz="1937">
                <a:solidFill>
                  <a:srgbClr val="2C2821"/>
                </a:solidFill>
                <a:latin typeface="Alice"/>
                <a:ea typeface="Alice"/>
                <a:cs typeface="Alice"/>
                <a:sym typeface="Alice"/>
              </a:rPr>
              <a:t>Expert Validation</a:t>
            </a:r>
          </a:p>
        </p:txBody>
      </p:sp>
      <p:sp>
        <p:nvSpPr>
          <p:cNvPr id="55" name="TextBox 55"/>
          <p:cNvSpPr txBox="1"/>
          <p:nvPr/>
        </p:nvSpPr>
        <p:spPr>
          <a:xfrm>
            <a:off x="4873684" y="6284919"/>
            <a:ext cx="3299374" cy="286198"/>
          </a:xfrm>
          <a:prstGeom prst="rect">
            <a:avLst/>
          </a:prstGeom>
        </p:spPr>
        <p:txBody>
          <a:bodyPr lIns="0" tIns="0" rIns="0" bIns="0" rtlCol="0" anchor="t">
            <a:spAutoFit/>
          </a:bodyPr>
          <a:lstStyle/>
          <a:p>
            <a:pPr algn="l">
              <a:lnSpc>
                <a:spcPts val="2062"/>
              </a:lnSpc>
            </a:pPr>
            <a:r>
              <a:rPr lang="en-US" sz="1500">
                <a:solidFill>
                  <a:srgbClr val="2C2821"/>
                </a:solidFill>
                <a:latin typeface="Lora"/>
                <a:ea typeface="Lora"/>
                <a:cs typeface="Lora"/>
                <a:sym typeface="Lora"/>
              </a:rPr>
              <a:t>Nutritionists only</a:t>
            </a:r>
          </a:p>
        </p:txBody>
      </p:sp>
      <p:grpSp>
        <p:nvGrpSpPr>
          <p:cNvPr id="56" name="Group 56"/>
          <p:cNvGrpSpPr/>
          <p:nvPr/>
        </p:nvGrpSpPr>
        <p:grpSpPr>
          <a:xfrm>
            <a:off x="8820748" y="2136724"/>
            <a:ext cx="8202663" cy="7121576"/>
            <a:chOff x="0" y="0"/>
            <a:chExt cx="10936884" cy="9495434"/>
          </a:xfrm>
        </p:grpSpPr>
        <p:sp>
          <p:nvSpPr>
            <p:cNvPr id="57" name="Freeform 57"/>
            <p:cNvSpPr/>
            <p:nvPr/>
          </p:nvSpPr>
          <p:spPr>
            <a:xfrm>
              <a:off x="0" y="0"/>
              <a:ext cx="10936859" cy="9495409"/>
            </a:xfrm>
            <a:custGeom>
              <a:avLst/>
              <a:gdLst/>
              <a:ahLst/>
              <a:cxnLst/>
              <a:rect l="l" t="t" r="r" b="b"/>
              <a:pathLst>
                <a:path w="10936859" h="9495409">
                  <a:moveTo>
                    <a:pt x="0" y="39370"/>
                  </a:moveTo>
                  <a:cubicBezTo>
                    <a:pt x="0" y="17653"/>
                    <a:pt x="17653" y="0"/>
                    <a:pt x="39370" y="0"/>
                  </a:cubicBezTo>
                  <a:lnTo>
                    <a:pt x="10897489" y="0"/>
                  </a:lnTo>
                  <a:cubicBezTo>
                    <a:pt x="10919206" y="0"/>
                    <a:pt x="10936859" y="17653"/>
                    <a:pt x="10936859" y="39370"/>
                  </a:cubicBezTo>
                  <a:lnTo>
                    <a:pt x="10936859" y="9456039"/>
                  </a:lnTo>
                  <a:cubicBezTo>
                    <a:pt x="10936859" y="9477756"/>
                    <a:pt x="10919206" y="9495409"/>
                    <a:pt x="10897489" y="9495409"/>
                  </a:cubicBezTo>
                  <a:lnTo>
                    <a:pt x="39370" y="9495409"/>
                  </a:lnTo>
                  <a:cubicBezTo>
                    <a:pt x="17653" y="9495409"/>
                    <a:pt x="0" y="9477756"/>
                    <a:pt x="0" y="9456039"/>
                  </a:cubicBezTo>
                  <a:close/>
                </a:path>
              </a:pathLst>
            </a:custGeom>
            <a:solidFill>
              <a:srgbClr val="FFF8E1"/>
            </a:solidFill>
            <a:ln w="12700">
              <a:solidFill>
                <a:srgbClr val="000000"/>
              </a:solidFill>
            </a:ln>
          </p:spPr>
          <p:txBody>
            <a:bodyPr/>
            <a:lstStyle/>
            <a:p>
              <a:endParaRPr lang="en-IN"/>
            </a:p>
          </p:txBody>
        </p:sp>
      </p:grpSp>
      <p:sp>
        <p:nvSpPr>
          <p:cNvPr id="58" name="TextBox 58"/>
          <p:cNvSpPr txBox="1"/>
          <p:nvPr/>
        </p:nvSpPr>
        <p:spPr>
          <a:xfrm>
            <a:off x="11425388" y="2502303"/>
            <a:ext cx="2955131" cy="378914"/>
          </a:xfrm>
          <a:prstGeom prst="rect">
            <a:avLst/>
          </a:prstGeom>
        </p:spPr>
        <p:txBody>
          <a:bodyPr lIns="0" tIns="0" rIns="0" bIns="0" rtlCol="0" anchor="t">
            <a:spAutoFit/>
          </a:bodyPr>
          <a:lstStyle/>
          <a:p>
            <a:pPr algn="ctr">
              <a:lnSpc>
                <a:spcPts val="2875"/>
              </a:lnSpc>
            </a:pPr>
            <a:r>
              <a:rPr lang="en-US" sz="2312">
                <a:solidFill>
                  <a:srgbClr val="233E32"/>
                </a:solidFill>
                <a:latin typeface="Alice"/>
                <a:ea typeface="Alice"/>
                <a:cs typeface="Alice"/>
                <a:sym typeface="Alice"/>
              </a:rPr>
              <a:t>AYUSHYA</a:t>
            </a:r>
          </a:p>
        </p:txBody>
      </p:sp>
      <p:grpSp>
        <p:nvGrpSpPr>
          <p:cNvPr id="59" name="Group 59"/>
          <p:cNvGrpSpPr/>
          <p:nvPr/>
        </p:nvGrpSpPr>
        <p:grpSpPr>
          <a:xfrm>
            <a:off x="8998599" y="3035113"/>
            <a:ext cx="3836041" cy="2100415"/>
            <a:chOff x="0" y="0"/>
            <a:chExt cx="5114722" cy="2800553"/>
          </a:xfrm>
        </p:grpSpPr>
        <p:sp>
          <p:nvSpPr>
            <p:cNvPr id="60" name="Freeform 60"/>
            <p:cNvSpPr/>
            <p:nvPr/>
          </p:nvSpPr>
          <p:spPr>
            <a:xfrm>
              <a:off x="0" y="0"/>
              <a:ext cx="5114671" cy="2800477"/>
            </a:xfrm>
            <a:custGeom>
              <a:avLst/>
              <a:gdLst/>
              <a:ahLst/>
              <a:cxnLst/>
              <a:rect l="l" t="t" r="r" b="b"/>
              <a:pathLst>
                <a:path w="5114671" h="2800477">
                  <a:moveTo>
                    <a:pt x="0" y="39370"/>
                  </a:moveTo>
                  <a:cubicBezTo>
                    <a:pt x="0" y="17653"/>
                    <a:pt x="17653" y="0"/>
                    <a:pt x="39370" y="0"/>
                  </a:cubicBezTo>
                  <a:lnTo>
                    <a:pt x="5075301" y="0"/>
                  </a:lnTo>
                  <a:cubicBezTo>
                    <a:pt x="5097018" y="0"/>
                    <a:pt x="5114671" y="17653"/>
                    <a:pt x="5114671" y="39370"/>
                  </a:cubicBezTo>
                  <a:lnTo>
                    <a:pt x="5114671" y="2761107"/>
                  </a:lnTo>
                  <a:cubicBezTo>
                    <a:pt x="5114671" y="2782824"/>
                    <a:pt x="5097018" y="2800477"/>
                    <a:pt x="5075301" y="2800477"/>
                  </a:cubicBezTo>
                  <a:lnTo>
                    <a:pt x="39370" y="2800477"/>
                  </a:lnTo>
                  <a:cubicBezTo>
                    <a:pt x="17653" y="2800477"/>
                    <a:pt x="0" y="2782824"/>
                    <a:pt x="0" y="2761107"/>
                  </a:cubicBezTo>
                  <a:close/>
                </a:path>
              </a:pathLst>
            </a:custGeom>
            <a:solidFill>
              <a:srgbClr val="F0EDE6"/>
            </a:solidFill>
            <a:ln w="12700">
              <a:solidFill>
                <a:srgbClr val="000000"/>
              </a:solidFill>
            </a:ln>
          </p:spPr>
          <p:txBody>
            <a:bodyPr/>
            <a:lstStyle/>
            <a:p>
              <a:endParaRPr lang="en-IN"/>
            </a:p>
          </p:txBody>
        </p:sp>
      </p:grpSp>
      <p:grpSp>
        <p:nvGrpSpPr>
          <p:cNvPr id="61" name="Group 61"/>
          <p:cNvGrpSpPr/>
          <p:nvPr/>
        </p:nvGrpSpPr>
        <p:grpSpPr>
          <a:xfrm>
            <a:off x="9195500" y="3232013"/>
            <a:ext cx="590998" cy="590998"/>
            <a:chOff x="0" y="0"/>
            <a:chExt cx="787997" cy="787997"/>
          </a:xfrm>
        </p:grpSpPr>
        <p:sp>
          <p:nvSpPr>
            <p:cNvPr id="62" name="Freeform 62"/>
            <p:cNvSpPr/>
            <p:nvPr/>
          </p:nvSpPr>
          <p:spPr>
            <a:xfrm>
              <a:off x="0" y="0"/>
              <a:ext cx="788035" cy="788035"/>
            </a:xfrm>
            <a:custGeom>
              <a:avLst/>
              <a:gdLst/>
              <a:ahLst/>
              <a:cxnLst/>
              <a:rect l="l" t="t" r="r" b="b"/>
              <a:pathLst>
                <a:path w="788035" h="788035">
                  <a:moveTo>
                    <a:pt x="0" y="393954"/>
                  </a:moveTo>
                  <a:cubicBezTo>
                    <a:pt x="0" y="176403"/>
                    <a:pt x="176403" y="0"/>
                    <a:pt x="393954" y="0"/>
                  </a:cubicBezTo>
                  <a:cubicBezTo>
                    <a:pt x="611505" y="0"/>
                    <a:pt x="788035" y="176403"/>
                    <a:pt x="788035" y="393954"/>
                  </a:cubicBezTo>
                  <a:cubicBezTo>
                    <a:pt x="788035" y="611505"/>
                    <a:pt x="611632" y="788035"/>
                    <a:pt x="393954" y="788035"/>
                  </a:cubicBezTo>
                  <a:cubicBezTo>
                    <a:pt x="176276" y="788035"/>
                    <a:pt x="0" y="611632"/>
                    <a:pt x="0" y="393954"/>
                  </a:cubicBezTo>
                  <a:close/>
                </a:path>
              </a:pathLst>
            </a:custGeom>
            <a:solidFill>
              <a:srgbClr val="FBE8B3"/>
            </a:solidFill>
            <a:ln w="12700">
              <a:solidFill>
                <a:srgbClr val="000000"/>
              </a:solidFill>
            </a:ln>
          </p:spPr>
          <p:txBody>
            <a:bodyPr/>
            <a:lstStyle/>
            <a:p>
              <a:endParaRPr lang="en-IN"/>
            </a:p>
          </p:txBody>
        </p:sp>
      </p:grpSp>
      <p:sp>
        <p:nvSpPr>
          <p:cNvPr id="63" name="Freeform 63" descr="preencoded.png"/>
          <p:cNvSpPr/>
          <p:nvPr/>
        </p:nvSpPr>
        <p:spPr>
          <a:xfrm>
            <a:off x="9358016" y="3394529"/>
            <a:ext cx="265957" cy="265957"/>
          </a:xfrm>
          <a:custGeom>
            <a:avLst/>
            <a:gdLst/>
            <a:ahLst/>
            <a:cxnLst/>
            <a:rect l="l" t="t" r="r" b="b"/>
            <a:pathLst>
              <a:path w="265957" h="265957">
                <a:moveTo>
                  <a:pt x="0" y="0"/>
                </a:moveTo>
                <a:lnTo>
                  <a:pt x="265957" y="0"/>
                </a:lnTo>
                <a:lnTo>
                  <a:pt x="265957" y="265957"/>
                </a:lnTo>
                <a:lnTo>
                  <a:pt x="0" y="265957"/>
                </a:lnTo>
                <a:lnTo>
                  <a:pt x="0" y="0"/>
                </a:lnTo>
                <a:close/>
              </a:path>
            </a:pathLst>
          </a:custGeom>
          <a:blipFill>
            <a:blip>
              <a:extLst>
                <a:ext uri="{96DAC541-7B7A-43D3-8B79-37D633B846F1}">
                  <asvg:svgBlip xmlns:asvg="http://schemas.microsoft.com/office/drawing/2016/SVG/main" r:embed="rId3"/>
                </a:ext>
              </a:extLst>
            </a:blip>
            <a:stretch>
              <a:fillRect t="-8928" b="-8928"/>
            </a:stretch>
          </a:blipFill>
        </p:spPr>
        <p:txBody>
          <a:bodyPr/>
          <a:lstStyle/>
          <a:p>
            <a:endParaRPr lang="en-IN"/>
          </a:p>
        </p:txBody>
      </p:sp>
      <p:sp>
        <p:nvSpPr>
          <p:cNvPr id="64" name="TextBox 64"/>
          <p:cNvSpPr txBox="1"/>
          <p:nvPr/>
        </p:nvSpPr>
        <p:spPr>
          <a:xfrm>
            <a:off x="9195500" y="3950256"/>
            <a:ext cx="2462660" cy="317297"/>
          </a:xfrm>
          <a:prstGeom prst="rect">
            <a:avLst/>
          </a:prstGeom>
        </p:spPr>
        <p:txBody>
          <a:bodyPr lIns="0" tIns="0" rIns="0" bIns="0" rtlCol="0" anchor="t">
            <a:spAutoFit/>
          </a:bodyPr>
          <a:lstStyle/>
          <a:p>
            <a:pPr algn="l">
              <a:lnSpc>
                <a:spcPts val="2375"/>
              </a:lnSpc>
            </a:pPr>
            <a:r>
              <a:rPr lang="en-US" sz="1937">
                <a:solidFill>
                  <a:srgbClr val="2C2821"/>
                </a:solidFill>
                <a:latin typeface="Alice"/>
                <a:ea typeface="Alice"/>
                <a:cs typeface="Alice"/>
                <a:sym typeface="Alice"/>
              </a:rPr>
              <a:t>Personalization</a:t>
            </a:r>
          </a:p>
        </p:txBody>
      </p:sp>
      <p:sp>
        <p:nvSpPr>
          <p:cNvPr id="65" name="TextBox 65"/>
          <p:cNvSpPr txBox="1"/>
          <p:nvPr/>
        </p:nvSpPr>
        <p:spPr>
          <a:xfrm>
            <a:off x="9195500" y="4385281"/>
            <a:ext cx="3442249" cy="553345"/>
          </a:xfrm>
          <a:prstGeom prst="rect">
            <a:avLst/>
          </a:prstGeom>
        </p:spPr>
        <p:txBody>
          <a:bodyPr lIns="0" tIns="0" rIns="0" bIns="0" rtlCol="0" anchor="t">
            <a:spAutoFit/>
          </a:bodyPr>
          <a:lstStyle/>
          <a:p>
            <a:pPr algn="l">
              <a:lnSpc>
                <a:spcPts val="2062"/>
              </a:lnSpc>
            </a:pPr>
            <a:r>
              <a:rPr lang="en-US" sz="1500" b="1">
                <a:solidFill>
                  <a:srgbClr val="2C2821"/>
                </a:solidFill>
                <a:latin typeface="Lora Bold"/>
                <a:ea typeface="Lora Bold"/>
                <a:cs typeface="Lora Bold"/>
                <a:sym typeface="Lora Bold"/>
              </a:rPr>
              <a:t>Dosha + Satmya + Ritu + Desha + Kala</a:t>
            </a:r>
          </a:p>
        </p:txBody>
      </p:sp>
      <p:grpSp>
        <p:nvGrpSpPr>
          <p:cNvPr id="66" name="Group 66"/>
          <p:cNvGrpSpPr/>
          <p:nvPr/>
        </p:nvGrpSpPr>
        <p:grpSpPr>
          <a:xfrm>
            <a:off x="12971420" y="3035113"/>
            <a:ext cx="3836041" cy="2100415"/>
            <a:chOff x="0" y="0"/>
            <a:chExt cx="5114722" cy="2800553"/>
          </a:xfrm>
        </p:grpSpPr>
        <p:sp>
          <p:nvSpPr>
            <p:cNvPr id="67" name="Freeform 67"/>
            <p:cNvSpPr/>
            <p:nvPr/>
          </p:nvSpPr>
          <p:spPr>
            <a:xfrm>
              <a:off x="0" y="0"/>
              <a:ext cx="5114671" cy="2800477"/>
            </a:xfrm>
            <a:custGeom>
              <a:avLst/>
              <a:gdLst/>
              <a:ahLst/>
              <a:cxnLst/>
              <a:rect l="l" t="t" r="r" b="b"/>
              <a:pathLst>
                <a:path w="5114671" h="2800477">
                  <a:moveTo>
                    <a:pt x="0" y="39370"/>
                  </a:moveTo>
                  <a:cubicBezTo>
                    <a:pt x="0" y="17653"/>
                    <a:pt x="17653" y="0"/>
                    <a:pt x="39370" y="0"/>
                  </a:cubicBezTo>
                  <a:lnTo>
                    <a:pt x="5075301" y="0"/>
                  </a:lnTo>
                  <a:cubicBezTo>
                    <a:pt x="5097018" y="0"/>
                    <a:pt x="5114671" y="17653"/>
                    <a:pt x="5114671" y="39370"/>
                  </a:cubicBezTo>
                  <a:lnTo>
                    <a:pt x="5114671" y="2761107"/>
                  </a:lnTo>
                  <a:cubicBezTo>
                    <a:pt x="5114671" y="2782824"/>
                    <a:pt x="5097018" y="2800477"/>
                    <a:pt x="5075301" y="2800477"/>
                  </a:cubicBezTo>
                  <a:lnTo>
                    <a:pt x="39370" y="2800477"/>
                  </a:lnTo>
                  <a:cubicBezTo>
                    <a:pt x="17653" y="2800477"/>
                    <a:pt x="0" y="2782824"/>
                    <a:pt x="0" y="2761107"/>
                  </a:cubicBezTo>
                  <a:close/>
                </a:path>
              </a:pathLst>
            </a:custGeom>
            <a:solidFill>
              <a:srgbClr val="F0EDE6"/>
            </a:solidFill>
            <a:ln w="12700">
              <a:solidFill>
                <a:srgbClr val="000000"/>
              </a:solidFill>
            </a:ln>
          </p:spPr>
          <p:txBody>
            <a:bodyPr/>
            <a:lstStyle/>
            <a:p>
              <a:endParaRPr lang="en-IN"/>
            </a:p>
          </p:txBody>
        </p:sp>
      </p:grpSp>
      <p:grpSp>
        <p:nvGrpSpPr>
          <p:cNvPr id="68" name="Group 68"/>
          <p:cNvGrpSpPr/>
          <p:nvPr/>
        </p:nvGrpSpPr>
        <p:grpSpPr>
          <a:xfrm>
            <a:off x="13168320" y="3232013"/>
            <a:ext cx="590998" cy="590998"/>
            <a:chOff x="0" y="0"/>
            <a:chExt cx="787997" cy="787997"/>
          </a:xfrm>
        </p:grpSpPr>
        <p:sp>
          <p:nvSpPr>
            <p:cNvPr id="69" name="Freeform 69"/>
            <p:cNvSpPr/>
            <p:nvPr/>
          </p:nvSpPr>
          <p:spPr>
            <a:xfrm>
              <a:off x="0" y="0"/>
              <a:ext cx="788035" cy="788035"/>
            </a:xfrm>
            <a:custGeom>
              <a:avLst/>
              <a:gdLst/>
              <a:ahLst/>
              <a:cxnLst/>
              <a:rect l="l" t="t" r="r" b="b"/>
              <a:pathLst>
                <a:path w="788035" h="788035">
                  <a:moveTo>
                    <a:pt x="0" y="393954"/>
                  </a:moveTo>
                  <a:cubicBezTo>
                    <a:pt x="0" y="176403"/>
                    <a:pt x="176403" y="0"/>
                    <a:pt x="393954" y="0"/>
                  </a:cubicBezTo>
                  <a:cubicBezTo>
                    <a:pt x="611505" y="0"/>
                    <a:pt x="788035" y="176403"/>
                    <a:pt x="788035" y="393954"/>
                  </a:cubicBezTo>
                  <a:cubicBezTo>
                    <a:pt x="788035" y="611505"/>
                    <a:pt x="611632" y="788035"/>
                    <a:pt x="393954" y="788035"/>
                  </a:cubicBezTo>
                  <a:cubicBezTo>
                    <a:pt x="176276" y="788035"/>
                    <a:pt x="0" y="611632"/>
                    <a:pt x="0" y="393954"/>
                  </a:cubicBezTo>
                  <a:close/>
                </a:path>
              </a:pathLst>
            </a:custGeom>
            <a:solidFill>
              <a:srgbClr val="FBE8B3"/>
            </a:solidFill>
            <a:ln w="12700">
              <a:solidFill>
                <a:srgbClr val="000000"/>
              </a:solidFill>
            </a:ln>
          </p:spPr>
          <p:txBody>
            <a:bodyPr/>
            <a:lstStyle/>
            <a:p>
              <a:endParaRPr lang="en-IN"/>
            </a:p>
          </p:txBody>
        </p:sp>
      </p:grpSp>
      <p:sp>
        <p:nvSpPr>
          <p:cNvPr id="70" name="Freeform 70" descr="preencoded.png"/>
          <p:cNvSpPr/>
          <p:nvPr/>
        </p:nvSpPr>
        <p:spPr>
          <a:xfrm>
            <a:off x="13330836" y="3394529"/>
            <a:ext cx="265957" cy="265957"/>
          </a:xfrm>
          <a:custGeom>
            <a:avLst/>
            <a:gdLst/>
            <a:ahLst/>
            <a:cxnLst/>
            <a:rect l="l" t="t" r="r" b="b"/>
            <a:pathLst>
              <a:path w="265957" h="265957">
                <a:moveTo>
                  <a:pt x="0" y="0"/>
                </a:moveTo>
                <a:lnTo>
                  <a:pt x="265957" y="0"/>
                </a:lnTo>
                <a:lnTo>
                  <a:pt x="265957" y="265957"/>
                </a:lnTo>
                <a:lnTo>
                  <a:pt x="0" y="265957"/>
                </a:lnTo>
                <a:lnTo>
                  <a:pt x="0" y="0"/>
                </a:lnTo>
                <a:close/>
              </a:path>
            </a:pathLst>
          </a:custGeom>
          <a:blipFill>
            <a:blip>
              <a:extLst>
                <a:ext uri="{96DAC541-7B7A-43D3-8B79-37D633B846F1}">
                  <asvg:svgBlip xmlns:asvg="http://schemas.microsoft.com/office/drawing/2016/SVG/main" r:embed="rId4"/>
                </a:ext>
              </a:extLst>
            </a:blip>
            <a:stretch>
              <a:fillRect t="-19644" b="-19640"/>
            </a:stretch>
          </a:blipFill>
        </p:spPr>
        <p:txBody>
          <a:bodyPr/>
          <a:lstStyle/>
          <a:p>
            <a:endParaRPr lang="en-IN"/>
          </a:p>
        </p:txBody>
      </p:sp>
      <p:sp>
        <p:nvSpPr>
          <p:cNvPr id="71" name="TextBox 71"/>
          <p:cNvSpPr txBox="1"/>
          <p:nvPr/>
        </p:nvSpPr>
        <p:spPr>
          <a:xfrm>
            <a:off x="13168320" y="3950256"/>
            <a:ext cx="2462660" cy="317297"/>
          </a:xfrm>
          <a:prstGeom prst="rect">
            <a:avLst/>
          </a:prstGeom>
        </p:spPr>
        <p:txBody>
          <a:bodyPr lIns="0" tIns="0" rIns="0" bIns="0" rtlCol="0" anchor="t">
            <a:spAutoFit/>
          </a:bodyPr>
          <a:lstStyle/>
          <a:p>
            <a:pPr algn="l">
              <a:lnSpc>
                <a:spcPts val="2375"/>
              </a:lnSpc>
            </a:pPr>
            <a:r>
              <a:rPr lang="en-US" sz="1937">
                <a:solidFill>
                  <a:srgbClr val="2C2821"/>
                </a:solidFill>
                <a:latin typeface="Alice"/>
                <a:ea typeface="Alice"/>
                <a:cs typeface="Alice"/>
                <a:sym typeface="Alice"/>
              </a:rPr>
              <a:t>Learning</a:t>
            </a:r>
          </a:p>
        </p:txBody>
      </p:sp>
      <p:sp>
        <p:nvSpPr>
          <p:cNvPr id="72" name="TextBox 72"/>
          <p:cNvSpPr txBox="1"/>
          <p:nvPr/>
        </p:nvSpPr>
        <p:spPr>
          <a:xfrm>
            <a:off x="13168320" y="4385281"/>
            <a:ext cx="3442249" cy="286198"/>
          </a:xfrm>
          <a:prstGeom prst="rect">
            <a:avLst/>
          </a:prstGeom>
        </p:spPr>
        <p:txBody>
          <a:bodyPr lIns="0" tIns="0" rIns="0" bIns="0" rtlCol="0" anchor="t">
            <a:spAutoFit/>
          </a:bodyPr>
          <a:lstStyle/>
          <a:p>
            <a:pPr algn="l">
              <a:lnSpc>
                <a:spcPts val="2062"/>
              </a:lnSpc>
            </a:pPr>
            <a:r>
              <a:rPr lang="en-US" sz="1500" b="1">
                <a:solidFill>
                  <a:srgbClr val="2C2821"/>
                </a:solidFill>
                <a:latin typeface="Lora Bold"/>
                <a:ea typeface="Lora Bold"/>
                <a:cs typeface="Lora Bold"/>
                <a:sym typeface="Lora Bold"/>
              </a:rPr>
              <a:t>Learns your Satmya from feedback</a:t>
            </a:r>
          </a:p>
        </p:txBody>
      </p:sp>
      <p:grpSp>
        <p:nvGrpSpPr>
          <p:cNvPr id="73" name="Group 73"/>
          <p:cNvGrpSpPr/>
          <p:nvPr/>
        </p:nvGrpSpPr>
        <p:grpSpPr>
          <a:xfrm>
            <a:off x="8998599" y="5272297"/>
            <a:ext cx="3836041" cy="2100415"/>
            <a:chOff x="0" y="0"/>
            <a:chExt cx="5114722" cy="2800553"/>
          </a:xfrm>
        </p:grpSpPr>
        <p:sp>
          <p:nvSpPr>
            <p:cNvPr id="74" name="Freeform 74"/>
            <p:cNvSpPr/>
            <p:nvPr/>
          </p:nvSpPr>
          <p:spPr>
            <a:xfrm>
              <a:off x="0" y="0"/>
              <a:ext cx="5114671" cy="2800477"/>
            </a:xfrm>
            <a:custGeom>
              <a:avLst/>
              <a:gdLst/>
              <a:ahLst/>
              <a:cxnLst/>
              <a:rect l="l" t="t" r="r" b="b"/>
              <a:pathLst>
                <a:path w="5114671" h="2800477">
                  <a:moveTo>
                    <a:pt x="0" y="39370"/>
                  </a:moveTo>
                  <a:cubicBezTo>
                    <a:pt x="0" y="17653"/>
                    <a:pt x="17653" y="0"/>
                    <a:pt x="39370" y="0"/>
                  </a:cubicBezTo>
                  <a:lnTo>
                    <a:pt x="5075301" y="0"/>
                  </a:lnTo>
                  <a:cubicBezTo>
                    <a:pt x="5097018" y="0"/>
                    <a:pt x="5114671" y="17653"/>
                    <a:pt x="5114671" y="39370"/>
                  </a:cubicBezTo>
                  <a:lnTo>
                    <a:pt x="5114671" y="2761107"/>
                  </a:lnTo>
                  <a:cubicBezTo>
                    <a:pt x="5114671" y="2782824"/>
                    <a:pt x="5097018" y="2800477"/>
                    <a:pt x="5075301" y="2800477"/>
                  </a:cubicBezTo>
                  <a:lnTo>
                    <a:pt x="39370" y="2800477"/>
                  </a:lnTo>
                  <a:cubicBezTo>
                    <a:pt x="17653" y="2800477"/>
                    <a:pt x="0" y="2782824"/>
                    <a:pt x="0" y="2761107"/>
                  </a:cubicBezTo>
                  <a:close/>
                </a:path>
              </a:pathLst>
            </a:custGeom>
            <a:solidFill>
              <a:srgbClr val="F0EDE6"/>
            </a:solidFill>
            <a:ln w="12700">
              <a:solidFill>
                <a:srgbClr val="000000"/>
              </a:solidFill>
            </a:ln>
          </p:spPr>
          <p:txBody>
            <a:bodyPr/>
            <a:lstStyle/>
            <a:p>
              <a:endParaRPr lang="en-IN"/>
            </a:p>
          </p:txBody>
        </p:sp>
      </p:grpSp>
      <p:grpSp>
        <p:nvGrpSpPr>
          <p:cNvPr id="75" name="Group 75"/>
          <p:cNvGrpSpPr/>
          <p:nvPr/>
        </p:nvGrpSpPr>
        <p:grpSpPr>
          <a:xfrm>
            <a:off x="9195500" y="5469188"/>
            <a:ext cx="590998" cy="590998"/>
            <a:chOff x="0" y="0"/>
            <a:chExt cx="787997" cy="787997"/>
          </a:xfrm>
        </p:grpSpPr>
        <p:sp>
          <p:nvSpPr>
            <p:cNvPr id="76" name="Freeform 76"/>
            <p:cNvSpPr/>
            <p:nvPr/>
          </p:nvSpPr>
          <p:spPr>
            <a:xfrm>
              <a:off x="0" y="0"/>
              <a:ext cx="788035" cy="788035"/>
            </a:xfrm>
            <a:custGeom>
              <a:avLst/>
              <a:gdLst/>
              <a:ahLst/>
              <a:cxnLst/>
              <a:rect l="l" t="t" r="r" b="b"/>
              <a:pathLst>
                <a:path w="788035" h="788035">
                  <a:moveTo>
                    <a:pt x="0" y="393954"/>
                  </a:moveTo>
                  <a:cubicBezTo>
                    <a:pt x="0" y="176403"/>
                    <a:pt x="176403" y="0"/>
                    <a:pt x="393954" y="0"/>
                  </a:cubicBezTo>
                  <a:cubicBezTo>
                    <a:pt x="611505" y="0"/>
                    <a:pt x="788035" y="176403"/>
                    <a:pt x="788035" y="393954"/>
                  </a:cubicBezTo>
                  <a:cubicBezTo>
                    <a:pt x="788035" y="611505"/>
                    <a:pt x="611632" y="788035"/>
                    <a:pt x="393954" y="788035"/>
                  </a:cubicBezTo>
                  <a:cubicBezTo>
                    <a:pt x="176276" y="788035"/>
                    <a:pt x="0" y="611632"/>
                    <a:pt x="0" y="393954"/>
                  </a:cubicBezTo>
                  <a:close/>
                </a:path>
              </a:pathLst>
            </a:custGeom>
            <a:solidFill>
              <a:srgbClr val="FBE8B3"/>
            </a:solidFill>
            <a:ln w="12700">
              <a:solidFill>
                <a:srgbClr val="000000"/>
              </a:solidFill>
            </a:ln>
          </p:spPr>
          <p:txBody>
            <a:bodyPr/>
            <a:lstStyle/>
            <a:p>
              <a:endParaRPr lang="en-IN"/>
            </a:p>
          </p:txBody>
        </p:sp>
      </p:grpSp>
      <p:sp>
        <p:nvSpPr>
          <p:cNvPr id="77" name="Freeform 77" descr="preencoded.png"/>
          <p:cNvSpPr/>
          <p:nvPr/>
        </p:nvSpPr>
        <p:spPr>
          <a:xfrm>
            <a:off x="9358016" y="5631713"/>
            <a:ext cx="265957" cy="265957"/>
          </a:xfrm>
          <a:custGeom>
            <a:avLst/>
            <a:gdLst/>
            <a:ahLst/>
            <a:cxnLst/>
            <a:rect l="l" t="t" r="r" b="b"/>
            <a:pathLst>
              <a:path w="265957" h="265957">
                <a:moveTo>
                  <a:pt x="0" y="0"/>
                </a:moveTo>
                <a:lnTo>
                  <a:pt x="265957" y="0"/>
                </a:lnTo>
                <a:lnTo>
                  <a:pt x="265957" y="265957"/>
                </a:lnTo>
                <a:lnTo>
                  <a:pt x="0" y="265957"/>
                </a:lnTo>
                <a:lnTo>
                  <a:pt x="0" y="0"/>
                </a:lnTo>
                <a:close/>
              </a:path>
            </a:pathLst>
          </a:custGeom>
          <a:blipFill>
            <a:blip>
              <a:extLst>
                <a:ext uri="{96DAC541-7B7A-43D3-8B79-37D633B846F1}">
                  <asvg:svgBlip xmlns:asvg="http://schemas.microsoft.com/office/drawing/2016/SVG/main" r:embed="rId5"/>
                </a:ext>
              </a:extLst>
            </a:blip>
            <a:stretch>
              <a:fillRect l="-1787" r="-1783"/>
            </a:stretch>
          </a:blipFill>
        </p:spPr>
        <p:txBody>
          <a:bodyPr/>
          <a:lstStyle/>
          <a:p>
            <a:endParaRPr lang="en-IN"/>
          </a:p>
        </p:txBody>
      </p:sp>
      <p:sp>
        <p:nvSpPr>
          <p:cNvPr id="78" name="TextBox 78"/>
          <p:cNvSpPr txBox="1"/>
          <p:nvPr/>
        </p:nvSpPr>
        <p:spPr>
          <a:xfrm>
            <a:off x="9195500" y="6187440"/>
            <a:ext cx="2462660" cy="317297"/>
          </a:xfrm>
          <a:prstGeom prst="rect">
            <a:avLst/>
          </a:prstGeom>
        </p:spPr>
        <p:txBody>
          <a:bodyPr lIns="0" tIns="0" rIns="0" bIns="0" rtlCol="0" anchor="t">
            <a:spAutoFit/>
          </a:bodyPr>
          <a:lstStyle/>
          <a:p>
            <a:pPr algn="l">
              <a:lnSpc>
                <a:spcPts val="2375"/>
              </a:lnSpc>
            </a:pPr>
            <a:r>
              <a:rPr lang="en-US" sz="1937">
                <a:solidFill>
                  <a:srgbClr val="2C2821"/>
                </a:solidFill>
                <a:latin typeface="Alice"/>
                <a:ea typeface="Alice"/>
                <a:cs typeface="Alice"/>
                <a:sym typeface="Alice"/>
              </a:rPr>
              <a:t>Seasonal Adjustment</a:t>
            </a:r>
          </a:p>
        </p:txBody>
      </p:sp>
      <p:sp>
        <p:nvSpPr>
          <p:cNvPr id="79" name="TextBox 79"/>
          <p:cNvSpPr txBox="1"/>
          <p:nvPr/>
        </p:nvSpPr>
        <p:spPr>
          <a:xfrm>
            <a:off x="9195500" y="6622466"/>
            <a:ext cx="3442249" cy="286198"/>
          </a:xfrm>
          <a:prstGeom prst="rect">
            <a:avLst/>
          </a:prstGeom>
        </p:spPr>
        <p:txBody>
          <a:bodyPr lIns="0" tIns="0" rIns="0" bIns="0" rtlCol="0" anchor="t">
            <a:spAutoFit/>
          </a:bodyPr>
          <a:lstStyle/>
          <a:p>
            <a:pPr algn="l">
              <a:lnSpc>
                <a:spcPts val="2062"/>
              </a:lnSpc>
            </a:pPr>
            <a:r>
              <a:rPr lang="en-US" sz="1500" b="1">
                <a:solidFill>
                  <a:srgbClr val="2C2821"/>
                </a:solidFill>
                <a:latin typeface="Lora Bold"/>
                <a:ea typeface="Lora Bold"/>
                <a:cs typeface="Lora Bold"/>
                <a:sym typeface="Lora Bold"/>
              </a:rPr>
              <a:t>Real-time Ritu lookup + auto-adjust</a:t>
            </a:r>
          </a:p>
        </p:txBody>
      </p:sp>
      <p:grpSp>
        <p:nvGrpSpPr>
          <p:cNvPr id="80" name="Group 80"/>
          <p:cNvGrpSpPr/>
          <p:nvPr/>
        </p:nvGrpSpPr>
        <p:grpSpPr>
          <a:xfrm>
            <a:off x="12971420" y="5272297"/>
            <a:ext cx="3836041" cy="2100415"/>
            <a:chOff x="0" y="0"/>
            <a:chExt cx="5114722" cy="2800553"/>
          </a:xfrm>
        </p:grpSpPr>
        <p:sp>
          <p:nvSpPr>
            <p:cNvPr id="81" name="Freeform 81"/>
            <p:cNvSpPr/>
            <p:nvPr/>
          </p:nvSpPr>
          <p:spPr>
            <a:xfrm>
              <a:off x="0" y="0"/>
              <a:ext cx="5114671" cy="2800477"/>
            </a:xfrm>
            <a:custGeom>
              <a:avLst/>
              <a:gdLst/>
              <a:ahLst/>
              <a:cxnLst/>
              <a:rect l="l" t="t" r="r" b="b"/>
              <a:pathLst>
                <a:path w="5114671" h="2800477">
                  <a:moveTo>
                    <a:pt x="0" y="39370"/>
                  </a:moveTo>
                  <a:cubicBezTo>
                    <a:pt x="0" y="17653"/>
                    <a:pt x="17653" y="0"/>
                    <a:pt x="39370" y="0"/>
                  </a:cubicBezTo>
                  <a:lnTo>
                    <a:pt x="5075301" y="0"/>
                  </a:lnTo>
                  <a:cubicBezTo>
                    <a:pt x="5097018" y="0"/>
                    <a:pt x="5114671" y="17653"/>
                    <a:pt x="5114671" y="39370"/>
                  </a:cubicBezTo>
                  <a:lnTo>
                    <a:pt x="5114671" y="2761107"/>
                  </a:lnTo>
                  <a:cubicBezTo>
                    <a:pt x="5114671" y="2782824"/>
                    <a:pt x="5097018" y="2800477"/>
                    <a:pt x="5075301" y="2800477"/>
                  </a:cubicBezTo>
                  <a:lnTo>
                    <a:pt x="39370" y="2800477"/>
                  </a:lnTo>
                  <a:cubicBezTo>
                    <a:pt x="17653" y="2800477"/>
                    <a:pt x="0" y="2782824"/>
                    <a:pt x="0" y="2761107"/>
                  </a:cubicBezTo>
                  <a:close/>
                </a:path>
              </a:pathLst>
            </a:custGeom>
            <a:solidFill>
              <a:srgbClr val="F0EDE6"/>
            </a:solidFill>
            <a:ln w="12700">
              <a:solidFill>
                <a:srgbClr val="000000"/>
              </a:solidFill>
            </a:ln>
          </p:spPr>
          <p:txBody>
            <a:bodyPr/>
            <a:lstStyle/>
            <a:p>
              <a:endParaRPr lang="en-IN"/>
            </a:p>
          </p:txBody>
        </p:sp>
      </p:grpSp>
      <p:grpSp>
        <p:nvGrpSpPr>
          <p:cNvPr id="82" name="Group 82"/>
          <p:cNvGrpSpPr/>
          <p:nvPr/>
        </p:nvGrpSpPr>
        <p:grpSpPr>
          <a:xfrm>
            <a:off x="13168320" y="5469188"/>
            <a:ext cx="590998" cy="590998"/>
            <a:chOff x="0" y="0"/>
            <a:chExt cx="787997" cy="787997"/>
          </a:xfrm>
        </p:grpSpPr>
        <p:sp>
          <p:nvSpPr>
            <p:cNvPr id="83" name="Freeform 83"/>
            <p:cNvSpPr/>
            <p:nvPr/>
          </p:nvSpPr>
          <p:spPr>
            <a:xfrm>
              <a:off x="0" y="0"/>
              <a:ext cx="788035" cy="788035"/>
            </a:xfrm>
            <a:custGeom>
              <a:avLst/>
              <a:gdLst/>
              <a:ahLst/>
              <a:cxnLst/>
              <a:rect l="l" t="t" r="r" b="b"/>
              <a:pathLst>
                <a:path w="788035" h="788035">
                  <a:moveTo>
                    <a:pt x="0" y="393954"/>
                  </a:moveTo>
                  <a:cubicBezTo>
                    <a:pt x="0" y="176403"/>
                    <a:pt x="176403" y="0"/>
                    <a:pt x="393954" y="0"/>
                  </a:cubicBezTo>
                  <a:cubicBezTo>
                    <a:pt x="611505" y="0"/>
                    <a:pt x="788035" y="176403"/>
                    <a:pt x="788035" y="393954"/>
                  </a:cubicBezTo>
                  <a:cubicBezTo>
                    <a:pt x="788035" y="611505"/>
                    <a:pt x="611632" y="788035"/>
                    <a:pt x="393954" y="788035"/>
                  </a:cubicBezTo>
                  <a:cubicBezTo>
                    <a:pt x="176276" y="788035"/>
                    <a:pt x="0" y="611632"/>
                    <a:pt x="0" y="393954"/>
                  </a:cubicBezTo>
                  <a:close/>
                </a:path>
              </a:pathLst>
            </a:custGeom>
            <a:solidFill>
              <a:srgbClr val="FBE8B3"/>
            </a:solidFill>
            <a:ln w="12700">
              <a:solidFill>
                <a:srgbClr val="000000"/>
              </a:solidFill>
            </a:ln>
          </p:spPr>
          <p:txBody>
            <a:bodyPr/>
            <a:lstStyle/>
            <a:p>
              <a:endParaRPr lang="en-IN"/>
            </a:p>
          </p:txBody>
        </p:sp>
      </p:grpSp>
      <p:sp>
        <p:nvSpPr>
          <p:cNvPr id="84" name="Freeform 84" descr="preencoded.png"/>
          <p:cNvSpPr/>
          <p:nvPr/>
        </p:nvSpPr>
        <p:spPr>
          <a:xfrm>
            <a:off x="13330836" y="5631713"/>
            <a:ext cx="265957" cy="265957"/>
          </a:xfrm>
          <a:custGeom>
            <a:avLst/>
            <a:gdLst/>
            <a:ahLst/>
            <a:cxnLst/>
            <a:rect l="l" t="t" r="r" b="b"/>
            <a:pathLst>
              <a:path w="265957" h="265957">
                <a:moveTo>
                  <a:pt x="0" y="0"/>
                </a:moveTo>
                <a:lnTo>
                  <a:pt x="265957" y="0"/>
                </a:lnTo>
                <a:lnTo>
                  <a:pt x="265957" y="265957"/>
                </a:lnTo>
                <a:lnTo>
                  <a:pt x="0" y="265957"/>
                </a:lnTo>
                <a:lnTo>
                  <a:pt x="0" y="0"/>
                </a:lnTo>
                <a:close/>
              </a:path>
            </a:pathLst>
          </a:custGeom>
          <a:blipFill>
            <a:blip>
              <a:extLst>
                <a:ext uri="{96DAC541-7B7A-43D3-8B79-37D633B846F1}">
                  <asvg:svgBlip xmlns:asvg="http://schemas.microsoft.com/office/drawing/2016/SVG/main" r:embed="rId6"/>
                </a:ext>
              </a:extLst>
            </a:blip>
            <a:stretch>
              <a:fillRect l="-1787" r="-1783"/>
            </a:stretch>
          </a:blipFill>
        </p:spPr>
        <p:txBody>
          <a:bodyPr/>
          <a:lstStyle/>
          <a:p>
            <a:endParaRPr lang="en-IN"/>
          </a:p>
        </p:txBody>
      </p:sp>
      <p:sp>
        <p:nvSpPr>
          <p:cNvPr id="85" name="TextBox 85"/>
          <p:cNvSpPr txBox="1"/>
          <p:nvPr/>
        </p:nvSpPr>
        <p:spPr>
          <a:xfrm>
            <a:off x="13168320" y="6187440"/>
            <a:ext cx="2462660" cy="317297"/>
          </a:xfrm>
          <a:prstGeom prst="rect">
            <a:avLst/>
          </a:prstGeom>
        </p:spPr>
        <p:txBody>
          <a:bodyPr lIns="0" tIns="0" rIns="0" bIns="0" rtlCol="0" anchor="t">
            <a:spAutoFit/>
          </a:bodyPr>
          <a:lstStyle/>
          <a:p>
            <a:pPr algn="l">
              <a:lnSpc>
                <a:spcPts val="2375"/>
              </a:lnSpc>
            </a:pPr>
            <a:r>
              <a:rPr lang="en-US" sz="1937">
                <a:solidFill>
                  <a:srgbClr val="2C2821"/>
                </a:solidFill>
                <a:latin typeface="Alice"/>
                <a:ea typeface="Alice"/>
                <a:cs typeface="Alice"/>
                <a:sym typeface="Alice"/>
              </a:rPr>
              <a:t>Geography</a:t>
            </a:r>
          </a:p>
        </p:txBody>
      </p:sp>
      <p:sp>
        <p:nvSpPr>
          <p:cNvPr id="86" name="TextBox 86"/>
          <p:cNvSpPr txBox="1"/>
          <p:nvPr/>
        </p:nvSpPr>
        <p:spPr>
          <a:xfrm>
            <a:off x="13168320" y="6622466"/>
            <a:ext cx="3442249" cy="553345"/>
          </a:xfrm>
          <a:prstGeom prst="rect">
            <a:avLst/>
          </a:prstGeom>
        </p:spPr>
        <p:txBody>
          <a:bodyPr lIns="0" tIns="0" rIns="0" bIns="0" rtlCol="0" anchor="t">
            <a:spAutoFit/>
          </a:bodyPr>
          <a:lstStyle/>
          <a:p>
            <a:pPr algn="l">
              <a:lnSpc>
                <a:spcPts val="2062"/>
              </a:lnSpc>
            </a:pPr>
            <a:r>
              <a:rPr lang="en-US" sz="1500" b="1">
                <a:solidFill>
                  <a:srgbClr val="2C2821"/>
                </a:solidFill>
                <a:latin typeface="Lora Bold"/>
                <a:ea typeface="Lora Bold"/>
                <a:cs typeface="Lora Bold"/>
                <a:sym typeface="Lora Bold"/>
              </a:rPr>
              <a:t>Desha-specific (Bengaluru ≠ Rajasthan)</a:t>
            </a:r>
          </a:p>
        </p:txBody>
      </p:sp>
      <p:grpSp>
        <p:nvGrpSpPr>
          <p:cNvPr id="87" name="Group 87"/>
          <p:cNvGrpSpPr/>
          <p:nvPr/>
        </p:nvGrpSpPr>
        <p:grpSpPr>
          <a:xfrm>
            <a:off x="8998599" y="7509481"/>
            <a:ext cx="3836041" cy="1833267"/>
            <a:chOff x="0" y="0"/>
            <a:chExt cx="5114722" cy="2444356"/>
          </a:xfrm>
        </p:grpSpPr>
        <p:sp>
          <p:nvSpPr>
            <p:cNvPr id="88" name="Freeform 88"/>
            <p:cNvSpPr/>
            <p:nvPr/>
          </p:nvSpPr>
          <p:spPr>
            <a:xfrm>
              <a:off x="0" y="0"/>
              <a:ext cx="5114671" cy="2444369"/>
            </a:xfrm>
            <a:custGeom>
              <a:avLst/>
              <a:gdLst/>
              <a:ahLst/>
              <a:cxnLst/>
              <a:rect l="l" t="t" r="r" b="b"/>
              <a:pathLst>
                <a:path w="5114671" h="2444369">
                  <a:moveTo>
                    <a:pt x="0" y="39370"/>
                  </a:moveTo>
                  <a:cubicBezTo>
                    <a:pt x="0" y="17653"/>
                    <a:pt x="17653" y="0"/>
                    <a:pt x="39370" y="0"/>
                  </a:cubicBezTo>
                  <a:lnTo>
                    <a:pt x="5075301" y="0"/>
                  </a:lnTo>
                  <a:cubicBezTo>
                    <a:pt x="5097018" y="0"/>
                    <a:pt x="5114671" y="17653"/>
                    <a:pt x="5114671" y="39370"/>
                  </a:cubicBezTo>
                  <a:lnTo>
                    <a:pt x="5114671" y="2404999"/>
                  </a:lnTo>
                  <a:cubicBezTo>
                    <a:pt x="5114671" y="2426716"/>
                    <a:pt x="5097018" y="2444369"/>
                    <a:pt x="5075301" y="2444369"/>
                  </a:cubicBezTo>
                  <a:lnTo>
                    <a:pt x="39370" y="2444369"/>
                  </a:lnTo>
                  <a:cubicBezTo>
                    <a:pt x="17653" y="2444369"/>
                    <a:pt x="0" y="2426716"/>
                    <a:pt x="0" y="2404999"/>
                  </a:cubicBezTo>
                  <a:close/>
                </a:path>
              </a:pathLst>
            </a:custGeom>
            <a:solidFill>
              <a:srgbClr val="F0EDE6"/>
            </a:solidFill>
            <a:ln w="12700">
              <a:solidFill>
                <a:srgbClr val="000000"/>
              </a:solidFill>
            </a:ln>
          </p:spPr>
          <p:txBody>
            <a:bodyPr/>
            <a:lstStyle/>
            <a:p>
              <a:endParaRPr lang="en-IN"/>
            </a:p>
          </p:txBody>
        </p:sp>
      </p:grpSp>
      <p:grpSp>
        <p:nvGrpSpPr>
          <p:cNvPr id="89" name="Group 89"/>
          <p:cNvGrpSpPr/>
          <p:nvPr/>
        </p:nvGrpSpPr>
        <p:grpSpPr>
          <a:xfrm>
            <a:off x="9195500" y="7706382"/>
            <a:ext cx="590998" cy="590998"/>
            <a:chOff x="0" y="0"/>
            <a:chExt cx="787997" cy="787997"/>
          </a:xfrm>
        </p:grpSpPr>
        <p:sp>
          <p:nvSpPr>
            <p:cNvPr id="90" name="Freeform 90"/>
            <p:cNvSpPr/>
            <p:nvPr/>
          </p:nvSpPr>
          <p:spPr>
            <a:xfrm>
              <a:off x="0" y="0"/>
              <a:ext cx="788035" cy="788035"/>
            </a:xfrm>
            <a:custGeom>
              <a:avLst/>
              <a:gdLst/>
              <a:ahLst/>
              <a:cxnLst/>
              <a:rect l="l" t="t" r="r" b="b"/>
              <a:pathLst>
                <a:path w="788035" h="788035">
                  <a:moveTo>
                    <a:pt x="0" y="393954"/>
                  </a:moveTo>
                  <a:cubicBezTo>
                    <a:pt x="0" y="176403"/>
                    <a:pt x="176403" y="0"/>
                    <a:pt x="393954" y="0"/>
                  </a:cubicBezTo>
                  <a:cubicBezTo>
                    <a:pt x="611505" y="0"/>
                    <a:pt x="788035" y="176403"/>
                    <a:pt x="788035" y="393954"/>
                  </a:cubicBezTo>
                  <a:cubicBezTo>
                    <a:pt x="788035" y="611505"/>
                    <a:pt x="611632" y="788035"/>
                    <a:pt x="393954" y="788035"/>
                  </a:cubicBezTo>
                  <a:cubicBezTo>
                    <a:pt x="176276" y="788035"/>
                    <a:pt x="0" y="611632"/>
                    <a:pt x="0" y="393954"/>
                  </a:cubicBezTo>
                  <a:close/>
                </a:path>
              </a:pathLst>
            </a:custGeom>
            <a:solidFill>
              <a:srgbClr val="FBE8B3"/>
            </a:solidFill>
            <a:ln w="12700">
              <a:solidFill>
                <a:srgbClr val="000000"/>
              </a:solidFill>
            </a:ln>
          </p:spPr>
          <p:txBody>
            <a:bodyPr/>
            <a:lstStyle/>
            <a:p>
              <a:endParaRPr lang="en-IN"/>
            </a:p>
          </p:txBody>
        </p:sp>
      </p:grpSp>
      <p:sp>
        <p:nvSpPr>
          <p:cNvPr id="91" name="Freeform 91" descr="preencoded.png"/>
          <p:cNvSpPr/>
          <p:nvPr/>
        </p:nvSpPr>
        <p:spPr>
          <a:xfrm>
            <a:off x="9358016" y="7868898"/>
            <a:ext cx="265957" cy="265957"/>
          </a:xfrm>
          <a:custGeom>
            <a:avLst/>
            <a:gdLst/>
            <a:ahLst/>
            <a:cxnLst/>
            <a:rect l="l" t="t" r="r" b="b"/>
            <a:pathLst>
              <a:path w="265957" h="265957">
                <a:moveTo>
                  <a:pt x="0" y="0"/>
                </a:moveTo>
                <a:lnTo>
                  <a:pt x="265957" y="0"/>
                </a:lnTo>
                <a:lnTo>
                  <a:pt x="265957" y="265957"/>
                </a:lnTo>
                <a:lnTo>
                  <a:pt x="0" y="265957"/>
                </a:lnTo>
                <a:lnTo>
                  <a:pt x="0" y="0"/>
                </a:lnTo>
                <a:close/>
              </a:path>
            </a:pathLst>
          </a:custGeom>
          <a:blipFill>
            <a:blip>
              <a:extLst>
                <a:ext uri="{96DAC541-7B7A-43D3-8B79-37D633B846F1}">
                  <asvg:svgBlip xmlns:asvg="http://schemas.microsoft.com/office/drawing/2016/SVG/main" r:embed="rId7"/>
                </a:ext>
              </a:extLst>
            </a:blip>
            <a:stretch>
              <a:fillRect t="-1787" b="-1783"/>
            </a:stretch>
          </a:blipFill>
        </p:spPr>
        <p:txBody>
          <a:bodyPr/>
          <a:lstStyle/>
          <a:p>
            <a:endParaRPr lang="en-IN"/>
          </a:p>
        </p:txBody>
      </p:sp>
      <p:sp>
        <p:nvSpPr>
          <p:cNvPr id="92" name="TextBox 92"/>
          <p:cNvSpPr txBox="1"/>
          <p:nvPr/>
        </p:nvSpPr>
        <p:spPr>
          <a:xfrm>
            <a:off x="9195500" y="8424624"/>
            <a:ext cx="2462660" cy="317297"/>
          </a:xfrm>
          <a:prstGeom prst="rect">
            <a:avLst/>
          </a:prstGeom>
        </p:spPr>
        <p:txBody>
          <a:bodyPr lIns="0" tIns="0" rIns="0" bIns="0" rtlCol="0" anchor="t">
            <a:spAutoFit/>
          </a:bodyPr>
          <a:lstStyle/>
          <a:p>
            <a:pPr algn="l">
              <a:lnSpc>
                <a:spcPts val="2375"/>
              </a:lnSpc>
            </a:pPr>
            <a:r>
              <a:rPr lang="en-US" sz="1937">
                <a:solidFill>
                  <a:srgbClr val="2C2821"/>
                </a:solidFill>
                <a:latin typeface="Alice"/>
                <a:ea typeface="Alice"/>
                <a:cs typeface="Alice"/>
                <a:sym typeface="Alice"/>
              </a:rPr>
              <a:t>Timing</a:t>
            </a:r>
          </a:p>
        </p:txBody>
      </p:sp>
      <p:sp>
        <p:nvSpPr>
          <p:cNvPr id="93" name="TextBox 93"/>
          <p:cNvSpPr txBox="1"/>
          <p:nvPr/>
        </p:nvSpPr>
        <p:spPr>
          <a:xfrm>
            <a:off x="9195500" y="8859650"/>
            <a:ext cx="3442249" cy="286198"/>
          </a:xfrm>
          <a:prstGeom prst="rect">
            <a:avLst/>
          </a:prstGeom>
        </p:spPr>
        <p:txBody>
          <a:bodyPr lIns="0" tIns="0" rIns="0" bIns="0" rtlCol="0" anchor="t">
            <a:spAutoFit/>
          </a:bodyPr>
          <a:lstStyle/>
          <a:p>
            <a:pPr algn="l">
              <a:lnSpc>
                <a:spcPts val="2062"/>
              </a:lnSpc>
            </a:pPr>
            <a:r>
              <a:rPr lang="en-US" sz="1500" b="1">
                <a:solidFill>
                  <a:srgbClr val="2C2821"/>
                </a:solidFill>
                <a:latin typeface="Lora Bold"/>
                <a:ea typeface="Lora Bold"/>
                <a:cs typeface="Lora Bold"/>
                <a:sym typeface="Lora Bold"/>
              </a:rPr>
              <a:t>Kala-optimized (lunch ≠ dinner)</a:t>
            </a:r>
          </a:p>
        </p:txBody>
      </p:sp>
      <p:grpSp>
        <p:nvGrpSpPr>
          <p:cNvPr id="94" name="Group 94"/>
          <p:cNvGrpSpPr/>
          <p:nvPr/>
        </p:nvGrpSpPr>
        <p:grpSpPr>
          <a:xfrm>
            <a:off x="12971420" y="7509481"/>
            <a:ext cx="3836041" cy="1833267"/>
            <a:chOff x="0" y="0"/>
            <a:chExt cx="5114722" cy="2444356"/>
          </a:xfrm>
        </p:grpSpPr>
        <p:sp>
          <p:nvSpPr>
            <p:cNvPr id="95" name="Freeform 95"/>
            <p:cNvSpPr/>
            <p:nvPr/>
          </p:nvSpPr>
          <p:spPr>
            <a:xfrm>
              <a:off x="0" y="0"/>
              <a:ext cx="5114671" cy="2444369"/>
            </a:xfrm>
            <a:custGeom>
              <a:avLst/>
              <a:gdLst/>
              <a:ahLst/>
              <a:cxnLst/>
              <a:rect l="l" t="t" r="r" b="b"/>
              <a:pathLst>
                <a:path w="5114671" h="2444369">
                  <a:moveTo>
                    <a:pt x="0" y="39370"/>
                  </a:moveTo>
                  <a:cubicBezTo>
                    <a:pt x="0" y="17653"/>
                    <a:pt x="17653" y="0"/>
                    <a:pt x="39370" y="0"/>
                  </a:cubicBezTo>
                  <a:lnTo>
                    <a:pt x="5075301" y="0"/>
                  </a:lnTo>
                  <a:cubicBezTo>
                    <a:pt x="5097018" y="0"/>
                    <a:pt x="5114671" y="17653"/>
                    <a:pt x="5114671" y="39370"/>
                  </a:cubicBezTo>
                  <a:lnTo>
                    <a:pt x="5114671" y="2404999"/>
                  </a:lnTo>
                  <a:cubicBezTo>
                    <a:pt x="5114671" y="2426716"/>
                    <a:pt x="5097018" y="2444369"/>
                    <a:pt x="5075301" y="2444369"/>
                  </a:cubicBezTo>
                  <a:lnTo>
                    <a:pt x="39370" y="2444369"/>
                  </a:lnTo>
                  <a:cubicBezTo>
                    <a:pt x="17653" y="2444369"/>
                    <a:pt x="0" y="2426716"/>
                    <a:pt x="0" y="2404999"/>
                  </a:cubicBezTo>
                  <a:close/>
                </a:path>
              </a:pathLst>
            </a:custGeom>
            <a:solidFill>
              <a:srgbClr val="F0EDE6"/>
            </a:solidFill>
            <a:ln w="12700">
              <a:solidFill>
                <a:srgbClr val="000000"/>
              </a:solidFill>
            </a:ln>
          </p:spPr>
          <p:txBody>
            <a:bodyPr/>
            <a:lstStyle/>
            <a:p>
              <a:endParaRPr lang="en-IN"/>
            </a:p>
          </p:txBody>
        </p:sp>
      </p:grpSp>
      <p:grpSp>
        <p:nvGrpSpPr>
          <p:cNvPr id="96" name="Group 96"/>
          <p:cNvGrpSpPr/>
          <p:nvPr/>
        </p:nvGrpSpPr>
        <p:grpSpPr>
          <a:xfrm>
            <a:off x="13168320" y="7706382"/>
            <a:ext cx="590998" cy="590998"/>
            <a:chOff x="0" y="0"/>
            <a:chExt cx="787997" cy="787997"/>
          </a:xfrm>
        </p:grpSpPr>
        <p:sp>
          <p:nvSpPr>
            <p:cNvPr id="97" name="Freeform 97"/>
            <p:cNvSpPr/>
            <p:nvPr/>
          </p:nvSpPr>
          <p:spPr>
            <a:xfrm>
              <a:off x="0" y="0"/>
              <a:ext cx="788035" cy="788035"/>
            </a:xfrm>
            <a:custGeom>
              <a:avLst/>
              <a:gdLst/>
              <a:ahLst/>
              <a:cxnLst/>
              <a:rect l="l" t="t" r="r" b="b"/>
              <a:pathLst>
                <a:path w="788035" h="788035">
                  <a:moveTo>
                    <a:pt x="0" y="393954"/>
                  </a:moveTo>
                  <a:cubicBezTo>
                    <a:pt x="0" y="176403"/>
                    <a:pt x="176403" y="0"/>
                    <a:pt x="393954" y="0"/>
                  </a:cubicBezTo>
                  <a:cubicBezTo>
                    <a:pt x="611505" y="0"/>
                    <a:pt x="788035" y="176403"/>
                    <a:pt x="788035" y="393954"/>
                  </a:cubicBezTo>
                  <a:cubicBezTo>
                    <a:pt x="788035" y="611505"/>
                    <a:pt x="611632" y="788035"/>
                    <a:pt x="393954" y="788035"/>
                  </a:cubicBezTo>
                  <a:cubicBezTo>
                    <a:pt x="176276" y="788035"/>
                    <a:pt x="0" y="611632"/>
                    <a:pt x="0" y="393954"/>
                  </a:cubicBezTo>
                  <a:close/>
                </a:path>
              </a:pathLst>
            </a:custGeom>
            <a:solidFill>
              <a:srgbClr val="FBE8B3"/>
            </a:solidFill>
            <a:ln w="12700">
              <a:solidFill>
                <a:srgbClr val="000000"/>
              </a:solidFill>
            </a:ln>
          </p:spPr>
          <p:txBody>
            <a:bodyPr/>
            <a:lstStyle/>
            <a:p>
              <a:endParaRPr lang="en-IN"/>
            </a:p>
          </p:txBody>
        </p:sp>
      </p:grpSp>
      <p:sp>
        <p:nvSpPr>
          <p:cNvPr id="98" name="Freeform 98" descr="preencoded.png"/>
          <p:cNvSpPr/>
          <p:nvPr/>
        </p:nvSpPr>
        <p:spPr>
          <a:xfrm>
            <a:off x="13330836" y="7868898"/>
            <a:ext cx="265957" cy="265957"/>
          </a:xfrm>
          <a:custGeom>
            <a:avLst/>
            <a:gdLst/>
            <a:ahLst/>
            <a:cxnLst/>
            <a:rect l="l" t="t" r="r" b="b"/>
            <a:pathLst>
              <a:path w="265957" h="265957">
                <a:moveTo>
                  <a:pt x="0" y="0"/>
                </a:moveTo>
                <a:lnTo>
                  <a:pt x="265957" y="0"/>
                </a:lnTo>
                <a:lnTo>
                  <a:pt x="265957" y="265957"/>
                </a:lnTo>
                <a:lnTo>
                  <a:pt x="0" y="265957"/>
                </a:lnTo>
                <a:lnTo>
                  <a:pt x="0" y="0"/>
                </a:lnTo>
                <a:close/>
              </a:path>
            </a:pathLst>
          </a:custGeom>
          <a:blipFill>
            <a:blip>
              <a:extLst>
                <a:ext uri="{96DAC541-7B7A-43D3-8B79-37D633B846F1}">
                  <asvg:svgBlip xmlns:asvg="http://schemas.microsoft.com/office/drawing/2016/SVG/main" r:embed="rId8"/>
                </a:ext>
              </a:extLst>
            </a:blip>
            <a:stretch>
              <a:fillRect l="-1787" r="-1783"/>
            </a:stretch>
          </a:blipFill>
        </p:spPr>
        <p:txBody>
          <a:bodyPr/>
          <a:lstStyle/>
          <a:p>
            <a:endParaRPr lang="en-IN"/>
          </a:p>
        </p:txBody>
      </p:sp>
      <p:sp>
        <p:nvSpPr>
          <p:cNvPr id="99" name="TextBox 99"/>
          <p:cNvSpPr txBox="1"/>
          <p:nvPr/>
        </p:nvSpPr>
        <p:spPr>
          <a:xfrm>
            <a:off x="13168320" y="8424624"/>
            <a:ext cx="2462660" cy="317297"/>
          </a:xfrm>
          <a:prstGeom prst="rect">
            <a:avLst/>
          </a:prstGeom>
        </p:spPr>
        <p:txBody>
          <a:bodyPr lIns="0" tIns="0" rIns="0" bIns="0" rtlCol="0" anchor="t">
            <a:spAutoFit/>
          </a:bodyPr>
          <a:lstStyle/>
          <a:p>
            <a:pPr algn="l">
              <a:lnSpc>
                <a:spcPts val="2375"/>
              </a:lnSpc>
            </a:pPr>
            <a:r>
              <a:rPr lang="en-US" sz="1937">
                <a:solidFill>
                  <a:srgbClr val="2C2821"/>
                </a:solidFill>
                <a:latin typeface="Alice"/>
                <a:ea typeface="Alice"/>
                <a:cs typeface="Alice"/>
                <a:sym typeface="Alice"/>
              </a:rPr>
              <a:t>Expert Validation</a:t>
            </a:r>
          </a:p>
        </p:txBody>
      </p:sp>
      <p:sp>
        <p:nvSpPr>
          <p:cNvPr id="100" name="TextBox 100"/>
          <p:cNvSpPr txBox="1"/>
          <p:nvPr/>
        </p:nvSpPr>
        <p:spPr>
          <a:xfrm>
            <a:off x="13168320" y="8859650"/>
            <a:ext cx="3442249" cy="242888"/>
          </a:xfrm>
          <a:prstGeom prst="rect">
            <a:avLst/>
          </a:prstGeom>
        </p:spPr>
        <p:txBody>
          <a:bodyPr lIns="0" tIns="0" rIns="0" bIns="0" rtlCol="0" anchor="t">
            <a:spAutoFit/>
          </a:bodyPr>
          <a:lstStyle/>
          <a:p>
            <a:pPr algn="l">
              <a:lnSpc>
                <a:spcPts val="2062"/>
              </a:lnSpc>
            </a:pPr>
            <a:r>
              <a:rPr lang="en-US" sz="1500" b="1">
                <a:solidFill>
                  <a:srgbClr val="2C2821"/>
                </a:solidFill>
                <a:latin typeface="Lora Bold"/>
                <a:ea typeface="Lora Bold"/>
                <a:cs typeface="Lora Bold"/>
                <a:sym typeface="Lora Bold"/>
              </a:rPr>
              <a:t>Ayurveda MD validated approach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815130" y="-656868"/>
            <a:ext cx="19628935" cy="11041276"/>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FFA"/>
            </a:solidFill>
            <a:ln w="12700">
              <a:solidFill>
                <a:srgbClr val="000000"/>
              </a:solidFill>
            </a:ln>
          </p:spPr>
          <p:txBody>
            <a:bodyPr/>
            <a:lstStyle/>
            <a:p>
              <a:endParaRPr lang="en-IN"/>
            </a:p>
          </p:txBody>
        </p:sp>
      </p:grpSp>
      <p:sp>
        <p:nvSpPr>
          <p:cNvPr id="4" name="TextBox 4"/>
          <p:cNvSpPr txBox="1"/>
          <p:nvPr/>
        </p:nvSpPr>
        <p:spPr>
          <a:xfrm>
            <a:off x="992238" y="1981048"/>
            <a:ext cx="12751694" cy="862012"/>
          </a:xfrm>
          <a:prstGeom prst="rect">
            <a:avLst/>
          </a:prstGeom>
        </p:spPr>
        <p:txBody>
          <a:bodyPr lIns="0" tIns="0" rIns="0" bIns="0" rtlCol="0" anchor="t">
            <a:spAutoFit/>
          </a:bodyPr>
          <a:lstStyle/>
          <a:p>
            <a:pPr algn="l">
              <a:lnSpc>
                <a:spcPts val="6937"/>
              </a:lnSpc>
            </a:pPr>
            <a:r>
              <a:rPr lang="en-US" sz="5562" b="1">
                <a:solidFill>
                  <a:srgbClr val="3B4540"/>
                </a:solidFill>
                <a:latin typeface="Fraunces Bold"/>
                <a:ea typeface="Fraunces Bold"/>
                <a:cs typeface="Fraunces Bold"/>
                <a:sym typeface="Fraunces Bold"/>
              </a:rPr>
              <a:t>Innovative Holistic Wellness Engine</a:t>
            </a:r>
          </a:p>
        </p:txBody>
      </p:sp>
      <p:sp>
        <p:nvSpPr>
          <p:cNvPr id="5" name="TextBox 5"/>
          <p:cNvSpPr txBox="1"/>
          <p:nvPr/>
        </p:nvSpPr>
        <p:spPr>
          <a:xfrm>
            <a:off x="1169346" y="3086252"/>
            <a:ext cx="16303523" cy="456520"/>
          </a:xfrm>
          <a:prstGeom prst="rect">
            <a:avLst/>
          </a:prstGeom>
        </p:spPr>
        <p:txBody>
          <a:bodyPr lIns="0" tIns="0" rIns="0" bIns="0" rtlCol="0" anchor="t">
            <a:spAutoFit/>
          </a:bodyPr>
          <a:lstStyle/>
          <a:p>
            <a:pPr algn="l">
              <a:lnSpc>
                <a:spcPts val="3725"/>
              </a:lnSpc>
            </a:pPr>
            <a:r>
              <a:rPr lang="en-US" sz="2287">
                <a:solidFill>
                  <a:srgbClr val="405449"/>
                </a:solidFill>
                <a:latin typeface="Arimo"/>
                <a:ea typeface="Arimo"/>
                <a:cs typeface="Arimo"/>
                <a:sym typeface="Arimo"/>
              </a:rPr>
              <a:t>Ayushya integrates several key functionalities to provide a comprehensive, user-centric experience.</a:t>
            </a:r>
          </a:p>
        </p:txBody>
      </p:sp>
      <p:grpSp>
        <p:nvGrpSpPr>
          <p:cNvPr id="6" name="Group 6"/>
          <p:cNvGrpSpPr/>
          <p:nvPr/>
        </p:nvGrpSpPr>
        <p:grpSpPr>
          <a:xfrm>
            <a:off x="1028700" y="3720632"/>
            <a:ext cx="7974501" cy="1520276"/>
            <a:chOff x="0" y="0"/>
            <a:chExt cx="10632669" cy="2027034"/>
          </a:xfrm>
        </p:grpSpPr>
        <p:sp>
          <p:nvSpPr>
            <p:cNvPr id="7" name="Freeform 7" descr="preencoded.png"/>
            <p:cNvSpPr/>
            <p:nvPr/>
          </p:nvSpPr>
          <p:spPr>
            <a:xfrm>
              <a:off x="0" y="0"/>
              <a:ext cx="944956" cy="944956"/>
            </a:xfrm>
            <a:custGeom>
              <a:avLst/>
              <a:gdLst/>
              <a:ahLst/>
              <a:cxnLst/>
              <a:rect l="l" t="t" r="r" b="b"/>
              <a:pathLst>
                <a:path w="944956" h="944956">
                  <a:moveTo>
                    <a:pt x="0" y="0"/>
                  </a:moveTo>
                  <a:lnTo>
                    <a:pt x="944956" y="0"/>
                  </a:lnTo>
                  <a:lnTo>
                    <a:pt x="944956" y="944956"/>
                  </a:lnTo>
                  <a:lnTo>
                    <a:pt x="0" y="944956"/>
                  </a:lnTo>
                  <a:lnTo>
                    <a:pt x="0" y="0"/>
                  </a:lnTo>
                  <a:close/>
                </a:path>
              </a:pathLst>
            </a:custGeom>
            <a:blipFill>
              <a:blip>
                <a:extLst>
                  <a:ext uri="{96DAC541-7B7A-43D3-8B79-37D633B846F1}">
                    <asvg:svgBlip xmlns:asvg="http://schemas.microsoft.com/office/drawing/2016/SVG/main" r:embed="rId3"/>
                  </a:ext>
                </a:extLst>
              </a:blip>
              <a:stretch>
                <a:fillRect t="-7332" b="-7334"/>
              </a:stretch>
            </a:blipFill>
          </p:spPr>
          <p:txBody>
            <a:bodyPr/>
            <a:lstStyle/>
            <a:p>
              <a:endParaRPr lang="en-IN"/>
            </a:p>
          </p:txBody>
        </p:sp>
        <p:sp>
          <p:nvSpPr>
            <p:cNvPr id="8" name="TextBox 8"/>
            <p:cNvSpPr txBox="1"/>
            <p:nvPr/>
          </p:nvSpPr>
          <p:spPr>
            <a:xfrm>
              <a:off x="1417434" y="-9525"/>
              <a:ext cx="4725391" cy="600075"/>
            </a:xfrm>
            <a:prstGeom prst="rect">
              <a:avLst/>
            </a:prstGeom>
          </p:spPr>
          <p:txBody>
            <a:bodyPr lIns="0" tIns="0" rIns="0" bIns="0" rtlCol="0" anchor="t">
              <a:spAutoFit/>
            </a:bodyPr>
            <a:lstStyle/>
            <a:p>
              <a:pPr algn="l">
                <a:lnSpc>
                  <a:spcPts val="3437"/>
                </a:lnSpc>
              </a:pPr>
              <a:r>
                <a:rPr lang="en-US" sz="2750" b="1">
                  <a:solidFill>
                    <a:srgbClr val="405449"/>
                  </a:solidFill>
                  <a:latin typeface="Fraunces Bold"/>
                  <a:ea typeface="Fraunces Bold"/>
                  <a:cs typeface="Fraunces Bold"/>
                  <a:sym typeface="Fraunces Bold"/>
                </a:rPr>
                <a:t>Personalised Input</a:t>
              </a:r>
            </a:p>
          </p:txBody>
        </p:sp>
        <p:sp>
          <p:nvSpPr>
            <p:cNvPr id="9" name="TextBox 9"/>
            <p:cNvSpPr txBox="1"/>
            <p:nvPr/>
          </p:nvSpPr>
          <p:spPr>
            <a:xfrm>
              <a:off x="1417434" y="712584"/>
              <a:ext cx="9215234" cy="1314450"/>
            </a:xfrm>
            <a:prstGeom prst="rect">
              <a:avLst/>
            </a:prstGeom>
          </p:spPr>
          <p:txBody>
            <a:bodyPr lIns="0" tIns="0" rIns="0" bIns="0" rtlCol="0" anchor="t">
              <a:spAutoFit/>
            </a:bodyPr>
            <a:lstStyle/>
            <a:p>
              <a:pPr algn="l">
                <a:lnSpc>
                  <a:spcPts val="3562"/>
                </a:lnSpc>
              </a:pPr>
              <a:r>
                <a:rPr lang="en-US" sz="2187">
                  <a:solidFill>
                    <a:srgbClr val="405449"/>
                  </a:solidFill>
                  <a:latin typeface="Arimo"/>
                  <a:ea typeface="Arimo"/>
                  <a:cs typeface="Arimo"/>
                  <a:sym typeface="Arimo"/>
                </a:rPr>
                <a:t>Questionnaires and daily logging (Satmya) for accurate individual profiles.</a:t>
              </a:r>
            </a:p>
          </p:txBody>
        </p:sp>
      </p:grpSp>
      <p:grpSp>
        <p:nvGrpSpPr>
          <p:cNvPr id="10" name="Group 10"/>
          <p:cNvGrpSpPr/>
          <p:nvPr/>
        </p:nvGrpSpPr>
        <p:grpSpPr>
          <a:xfrm>
            <a:off x="9321108" y="3720632"/>
            <a:ext cx="7974654" cy="1973904"/>
            <a:chOff x="0" y="0"/>
            <a:chExt cx="10632872" cy="2631872"/>
          </a:xfrm>
        </p:grpSpPr>
        <p:sp>
          <p:nvSpPr>
            <p:cNvPr id="11" name="Freeform 11" descr="preencoded.png"/>
            <p:cNvSpPr/>
            <p:nvPr/>
          </p:nvSpPr>
          <p:spPr>
            <a:xfrm>
              <a:off x="0" y="0"/>
              <a:ext cx="944956" cy="944956"/>
            </a:xfrm>
            <a:custGeom>
              <a:avLst/>
              <a:gdLst/>
              <a:ahLst/>
              <a:cxnLst/>
              <a:rect l="l" t="t" r="r" b="b"/>
              <a:pathLst>
                <a:path w="944956" h="944956">
                  <a:moveTo>
                    <a:pt x="0" y="0"/>
                  </a:moveTo>
                  <a:lnTo>
                    <a:pt x="944956" y="0"/>
                  </a:lnTo>
                  <a:lnTo>
                    <a:pt x="944956" y="944956"/>
                  </a:lnTo>
                  <a:lnTo>
                    <a:pt x="0" y="944956"/>
                  </a:lnTo>
                  <a:lnTo>
                    <a:pt x="0" y="0"/>
                  </a:lnTo>
                  <a:close/>
                </a:path>
              </a:pathLst>
            </a:custGeom>
            <a:blipFill>
              <a:blip>
                <a:extLst>
                  <a:ext uri="{96DAC541-7B7A-43D3-8B79-37D633B846F1}">
                    <asvg:svgBlip xmlns:asvg="http://schemas.microsoft.com/office/drawing/2016/SVG/main" r:embed="rId4"/>
                  </a:ext>
                </a:extLst>
              </a:blip>
              <a:stretch>
                <a:fillRect l="-666" r="-666"/>
              </a:stretch>
            </a:blipFill>
          </p:spPr>
          <p:txBody>
            <a:bodyPr/>
            <a:lstStyle/>
            <a:p>
              <a:endParaRPr lang="en-IN"/>
            </a:p>
          </p:txBody>
        </p:sp>
        <p:sp>
          <p:nvSpPr>
            <p:cNvPr id="12" name="TextBox 12"/>
            <p:cNvSpPr txBox="1"/>
            <p:nvPr/>
          </p:nvSpPr>
          <p:spPr>
            <a:xfrm>
              <a:off x="1417434" y="-9525"/>
              <a:ext cx="7484262" cy="600075"/>
            </a:xfrm>
            <a:prstGeom prst="rect">
              <a:avLst/>
            </a:prstGeom>
          </p:spPr>
          <p:txBody>
            <a:bodyPr lIns="0" tIns="0" rIns="0" bIns="0" rtlCol="0" anchor="t">
              <a:spAutoFit/>
            </a:bodyPr>
            <a:lstStyle/>
            <a:p>
              <a:pPr algn="l">
                <a:lnSpc>
                  <a:spcPts val="3437"/>
                </a:lnSpc>
              </a:pPr>
              <a:r>
                <a:rPr lang="en-US" sz="2750" b="1">
                  <a:solidFill>
                    <a:srgbClr val="405449"/>
                  </a:solidFill>
                  <a:latin typeface="Fraunces Bold"/>
                  <a:ea typeface="Fraunces Bold"/>
                  <a:cs typeface="Fraunces Bold"/>
                  <a:sym typeface="Fraunces Bold"/>
                </a:rPr>
                <a:t>AI-Powered Recommendations</a:t>
              </a:r>
            </a:p>
          </p:txBody>
        </p:sp>
        <p:sp>
          <p:nvSpPr>
            <p:cNvPr id="13" name="TextBox 13"/>
            <p:cNvSpPr txBox="1"/>
            <p:nvPr/>
          </p:nvSpPr>
          <p:spPr>
            <a:xfrm>
              <a:off x="1417434" y="712584"/>
              <a:ext cx="9215438" cy="1919287"/>
            </a:xfrm>
            <a:prstGeom prst="rect">
              <a:avLst/>
            </a:prstGeom>
          </p:spPr>
          <p:txBody>
            <a:bodyPr lIns="0" tIns="0" rIns="0" bIns="0" rtlCol="0" anchor="t">
              <a:spAutoFit/>
            </a:bodyPr>
            <a:lstStyle/>
            <a:p>
              <a:pPr algn="l">
                <a:lnSpc>
                  <a:spcPts val="3562"/>
                </a:lnSpc>
              </a:pPr>
              <a:r>
                <a:rPr lang="en-US" sz="2187">
                  <a:solidFill>
                    <a:srgbClr val="405449"/>
                  </a:solidFill>
                  <a:latin typeface="Arimo"/>
                  <a:ea typeface="Arimo"/>
                  <a:cs typeface="Arimo"/>
                  <a:sym typeface="Arimo"/>
                </a:rPr>
                <a:t>Weekly, region-wise, and Dosha-specific recommendations including grocery lists and recipes.</a:t>
              </a:r>
            </a:p>
          </p:txBody>
        </p:sp>
      </p:grpSp>
      <p:grpSp>
        <p:nvGrpSpPr>
          <p:cNvPr id="14" name="Group 14"/>
          <p:cNvGrpSpPr/>
          <p:nvPr/>
        </p:nvGrpSpPr>
        <p:grpSpPr>
          <a:xfrm>
            <a:off x="992238" y="5602857"/>
            <a:ext cx="7974501" cy="1520285"/>
            <a:chOff x="0" y="0"/>
            <a:chExt cx="10632669" cy="2027047"/>
          </a:xfrm>
        </p:grpSpPr>
        <p:sp>
          <p:nvSpPr>
            <p:cNvPr id="15" name="Freeform 15" descr="preencoded.png"/>
            <p:cNvSpPr/>
            <p:nvPr/>
          </p:nvSpPr>
          <p:spPr>
            <a:xfrm>
              <a:off x="0" y="0"/>
              <a:ext cx="944956" cy="944956"/>
            </a:xfrm>
            <a:custGeom>
              <a:avLst/>
              <a:gdLst/>
              <a:ahLst/>
              <a:cxnLst/>
              <a:rect l="l" t="t" r="r" b="b"/>
              <a:pathLst>
                <a:path w="944956" h="944956">
                  <a:moveTo>
                    <a:pt x="0" y="0"/>
                  </a:moveTo>
                  <a:lnTo>
                    <a:pt x="944956" y="0"/>
                  </a:lnTo>
                  <a:lnTo>
                    <a:pt x="944956" y="944956"/>
                  </a:lnTo>
                  <a:lnTo>
                    <a:pt x="0" y="944956"/>
                  </a:lnTo>
                  <a:lnTo>
                    <a:pt x="0" y="0"/>
                  </a:lnTo>
                  <a:close/>
                </a:path>
              </a:pathLst>
            </a:custGeom>
            <a:blipFill>
              <a:blip>
                <a:extLst>
                  <a:ext uri="{96DAC541-7B7A-43D3-8B79-37D633B846F1}">
                    <asvg:svgBlip xmlns:asvg="http://schemas.microsoft.com/office/drawing/2016/SVG/main" r:embed="rId5"/>
                  </a:ext>
                </a:extLst>
              </a:blip>
              <a:stretch>
                <a:fillRect t="-96000" b="-96000"/>
              </a:stretch>
            </a:blipFill>
          </p:spPr>
          <p:txBody>
            <a:bodyPr/>
            <a:lstStyle/>
            <a:p>
              <a:endParaRPr lang="en-IN"/>
            </a:p>
          </p:txBody>
        </p:sp>
        <p:sp>
          <p:nvSpPr>
            <p:cNvPr id="16" name="TextBox 16"/>
            <p:cNvSpPr txBox="1"/>
            <p:nvPr/>
          </p:nvSpPr>
          <p:spPr>
            <a:xfrm>
              <a:off x="1417434" y="-9525"/>
              <a:ext cx="6622263" cy="600075"/>
            </a:xfrm>
            <a:prstGeom prst="rect">
              <a:avLst/>
            </a:prstGeom>
          </p:spPr>
          <p:txBody>
            <a:bodyPr lIns="0" tIns="0" rIns="0" bIns="0" rtlCol="0" anchor="t">
              <a:spAutoFit/>
            </a:bodyPr>
            <a:lstStyle/>
            <a:p>
              <a:pPr algn="l">
                <a:lnSpc>
                  <a:spcPts val="3437"/>
                </a:lnSpc>
              </a:pPr>
              <a:r>
                <a:rPr lang="en-US" sz="2750" b="1">
                  <a:solidFill>
                    <a:srgbClr val="405449"/>
                  </a:solidFill>
                  <a:latin typeface="Fraunces Bold"/>
                  <a:ea typeface="Fraunces Bold"/>
                  <a:cs typeface="Fraunces Bold"/>
                  <a:sym typeface="Fraunces Bold"/>
                </a:rPr>
                <a:t>Food Pairing &amp; Digestibility</a:t>
              </a:r>
            </a:p>
          </p:txBody>
        </p:sp>
        <p:sp>
          <p:nvSpPr>
            <p:cNvPr id="17" name="TextBox 17"/>
            <p:cNvSpPr txBox="1"/>
            <p:nvPr/>
          </p:nvSpPr>
          <p:spPr>
            <a:xfrm>
              <a:off x="1417434" y="712597"/>
              <a:ext cx="9215234" cy="1314450"/>
            </a:xfrm>
            <a:prstGeom prst="rect">
              <a:avLst/>
            </a:prstGeom>
          </p:spPr>
          <p:txBody>
            <a:bodyPr lIns="0" tIns="0" rIns="0" bIns="0" rtlCol="0" anchor="t">
              <a:spAutoFit/>
            </a:bodyPr>
            <a:lstStyle/>
            <a:p>
              <a:pPr algn="l">
                <a:lnSpc>
                  <a:spcPts val="3562"/>
                </a:lnSpc>
              </a:pPr>
              <a:r>
                <a:rPr lang="en-US" sz="2187">
                  <a:solidFill>
                    <a:srgbClr val="405449"/>
                  </a:solidFill>
                  <a:latin typeface="Arimo"/>
                  <a:ea typeface="Arimo"/>
                  <a:cs typeface="Arimo"/>
                  <a:sym typeface="Arimo"/>
                </a:rPr>
                <a:t>Guidance on compatible food combinations for optimal digestion.</a:t>
              </a:r>
            </a:p>
          </p:txBody>
        </p:sp>
      </p:grpSp>
      <p:grpSp>
        <p:nvGrpSpPr>
          <p:cNvPr id="18" name="Group 18"/>
          <p:cNvGrpSpPr/>
          <p:nvPr/>
        </p:nvGrpSpPr>
        <p:grpSpPr>
          <a:xfrm>
            <a:off x="9321108" y="5602857"/>
            <a:ext cx="7974654" cy="1389317"/>
            <a:chOff x="0" y="0"/>
            <a:chExt cx="10632872" cy="1852422"/>
          </a:xfrm>
        </p:grpSpPr>
        <p:sp>
          <p:nvSpPr>
            <p:cNvPr id="19" name="Freeform 19" descr="preencoded.png"/>
            <p:cNvSpPr/>
            <p:nvPr/>
          </p:nvSpPr>
          <p:spPr>
            <a:xfrm>
              <a:off x="0" y="0"/>
              <a:ext cx="944956" cy="944956"/>
            </a:xfrm>
            <a:custGeom>
              <a:avLst/>
              <a:gdLst/>
              <a:ahLst/>
              <a:cxnLst/>
              <a:rect l="l" t="t" r="r" b="b"/>
              <a:pathLst>
                <a:path w="944956" h="944956">
                  <a:moveTo>
                    <a:pt x="0" y="0"/>
                  </a:moveTo>
                  <a:lnTo>
                    <a:pt x="944956" y="0"/>
                  </a:lnTo>
                  <a:lnTo>
                    <a:pt x="944956" y="944956"/>
                  </a:lnTo>
                  <a:lnTo>
                    <a:pt x="0" y="944956"/>
                  </a:lnTo>
                  <a:lnTo>
                    <a:pt x="0" y="0"/>
                  </a:lnTo>
                  <a:close/>
                </a:path>
              </a:pathLst>
            </a:custGeom>
            <a:blipFill>
              <a:blip>
                <a:extLst>
                  <a:ext uri="{96DAC541-7B7A-43D3-8B79-37D633B846F1}">
                    <asvg:svgBlip xmlns:asvg="http://schemas.microsoft.com/office/drawing/2016/SVG/main" r:embed="rId6"/>
                  </a:ext>
                </a:extLst>
              </a:blip>
              <a:stretch>
                <a:fillRect l="-666" r="-666"/>
              </a:stretch>
            </a:blipFill>
          </p:spPr>
          <p:txBody>
            <a:bodyPr/>
            <a:lstStyle/>
            <a:p>
              <a:endParaRPr lang="en-IN"/>
            </a:p>
          </p:txBody>
        </p:sp>
        <p:sp>
          <p:nvSpPr>
            <p:cNvPr id="20" name="TextBox 20"/>
            <p:cNvSpPr txBox="1"/>
            <p:nvPr/>
          </p:nvSpPr>
          <p:spPr>
            <a:xfrm>
              <a:off x="1417434" y="-9525"/>
              <a:ext cx="6495124" cy="557742"/>
            </a:xfrm>
            <a:prstGeom prst="rect">
              <a:avLst/>
            </a:prstGeom>
          </p:spPr>
          <p:txBody>
            <a:bodyPr lIns="0" tIns="0" rIns="0" bIns="0" rtlCol="0" anchor="t">
              <a:spAutoFit/>
            </a:bodyPr>
            <a:lstStyle/>
            <a:p>
              <a:pPr algn="l">
                <a:lnSpc>
                  <a:spcPts val="3437"/>
                </a:lnSpc>
              </a:pPr>
              <a:r>
                <a:rPr lang="en-US" sz="2750" b="1">
                  <a:solidFill>
                    <a:srgbClr val="405449"/>
                  </a:solidFill>
                  <a:latin typeface="Fraunces Bold"/>
                  <a:ea typeface="Fraunces Bold"/>
                  <a:cs typeface="Fraunces Bold"/>
                  <a:sym typeface="Fraunces Bold"/>
                </a:rPr>
                <a:t>Dynamic  AQI - Ritu Pairing</a:t>
              </a:r>
            </a:p>
          </p:txBody>
        </p:sp>
        <p:sp>
          <p:nvSpPr>
            <p:cNvPr id="21" name="TextBox 21"/>
            <p:cNvSpPr txBox="1"/>
            <p:nvPr/>
          </p:nvSpPr>
          <p:spPr>
            <a:xfrm>
              <a:off x="1417434" y="712597"/>
              <a:ext cx="9215438" cy="1139825"/>
            </a:xfrm>
            <a:prstGeom prst="rect">
              <a:avLst/>
            </a:prstGeom>
          </p:spPr>
          <p:txBody>
            <a:bodyPr lIns="0" tIns="0" rIns="0" bIns="0" rtlCol="0" anchor="t">
              <a:spAutoFit/>
            </a:bodyPr>
            <a:lstStyle/>
            <a:p>
              <a:pPr algn="l">
                <a:lnSpc>
                  <a:spcPts val="3562"/>
                </a:lnSpc>
              </a:pPr>
              <a:r>
                <a:rPr lang="en-US" sz="2187">
                  <a:solidFill>
                    <a:srgbClr val="405449"/>
                  </a:solidFill>
                  <a:latin typeface="Arimo"/>
                  <a:ea typeface="Arimo"/>
                  <a:cs typeface="Arimo"/>
                  <a:sym typeface="Arimo"/>
                </a:rPr>
                <a:t>Pair AQI spikes with Ritu Adjustments, bringing Ayurveda with urban environmental health.</a:t>
              </a:r>
            </a:p>
          </p:txBody>
        </p:sp>
      </p:grpSp>
      <p:sp>
        <p:nvSpPr>
          <p:cNvPr id="22" name="Freeform 22" descr="preencoded.png"/>
          <p:cNvSpPr/>
          <p:nvPr/>
        </p:nvSpPr>
        <p:spPr>
          <a:xfrm>
            <a:off x="992238" y="7738015"/>
            <a:ext cx="708717" cy="708717"/>
          </a:xfrm>
          <a:custGeom>
            <a:avLst/>
            <a:gdLst/>
            <a:ahLst/>
            <a:cxnLst/>
            <a:rect l="l" t="t" r="r" b="b"/>
            <a:pathLst>
              <a:path w="708717" h="708717">
                <a:moveTo>
                  <a:pt x="0" y="0"/>
                </a:moveTo>
                <a:lnTo>
                  <a:pt x="708717" y="0"/>
                </a:lnTo>
                <a:lnTo>
                  <a:pt x="708717" y="708717"/>
                </a:lnTo>
                <a:lnTo>
                  <a:pt x="0" y="708717"/>
                </a:lnTo>
                <a:lnTo>
                  <a:pt x="0" y="0"/>
                </a:lnTo>
                <a:close/>
              </a:path>
            </a:pathLst>
          </a:custGeom>
          <a:blipFill>
            <a:blip>
              <a:extLst>
                <a:ext uri="{96DAC541-7B7A-43D3-8B79-37D633B846F1}">
                  <asvg:svgBlip xmlns:asvg="http://schemas.microsoft.com/office/drawing/2016/SVG/main" r:embed="rId5"/>
                </a:ext>
              </a:extLst>
            </a:blip>
            <a:stretch>
              <a:fillRect t="-96000" b="-96000"/>
            </a:stretch>
          </a:blipFill>
        </p:spPr>
        <p:txBody>
          <a:bodyPr/>
          <a:lstStyle/>
          <a:p>
            <a:endParaRPr lang="en-IN"/>
          </a:p>
        </p:txBody>
      </p:sp>
      <p:sp>
        <p:nvSpPr>
          <p:cNvPr id="23" name="TextBox 23"/>
          <p:cNvSpPr txBox="1"/>
          <p:nvPr/>
        </p:nvSpPr>
        <p:spPr>
          <a:xfrm>
            <a:off x="2055314" y="7728490"/>
            <a:ext cx="4966697" cy="420687"/>
          </a:xfrm>
          <a:prstGeom prst="rect">
            <a:avLst/>
          </a:prstGeom>
        </p:spPr>
        <p:txBody>
          <a:bodyPr lIns="0" tIns="0" rIns="0" bIns="0" rtlCol="0" anchor="t">
            <a:spAutoFit/>
          </a:bodyPr>
          <a:lstStyle/>
          <a:p>
            <a:pPr algn="l">
              <a:lnSpc>
                <a:spcPts val="3437"/>
              </a:lnSpc>
            </a:pPr>
            <a:r>
              <a:rPr lang="en-US" sz="2750" b="1">
                <a:solidFill>
                  <a:srgbClr val="405449"/>
                </a:solidFill>
                <a:latin typeface="Fraunces Bold"/>
                <a:ea typeface="Fraunces Bold"/>
                <a:cs typeface="Fraunces Bold"/>
                <a:sym typeface="Fraunces Bold"/>
              </a:rPr>
              <a:t>Satmya Feedback </a:t>
            </a:r>
          </a:p>
        </p:txBody>
      </p:sp>
      <p:sp>
        <p:nvSpPr>
          <p:cNvPr id="24" name="TextBox 24"/>
          <p:cNvSpPr txBox="1"/>
          <p:nvPr/>
        </p:nvSpPr>
        <p:spPr>
          <a:xfrm>
            <a:off x="2055314" y="8246269"/>
            <a:ext cx="6911426" cy="881063"/>
          </a:xfrm>
          <a:prstGeom prst="rect">
            <a:avLst/>
          </a:prstGeom>
        </p:spPr>
        <p:txBody>
          <a:bodyPr lIns="0" tIns="0" rIns="0" bIns="0" rtlCol="0" anchor="t">
            <a:spAutoFit/>
          </a:bodyPr>
          <a:lstStyle/>
          <a:p>
            <a:pPr algn="l">
              <a:lnSpc>
                <a:spcPts val="3562"/>
              </a:lnSpc>
            </a:pPr>
            <a:r>
              <a:rPr lang="en-US" sz="2187">
                <a:solidFill>
                  <a:srgbClr val="405449"/>
                </a:solidFill>
                <a:latin typeface="Arimo"/>
                <a:ea typeface="Arimo"/>
                <a:cs typeface="Arimo"/>
                <a:sym typeface="Arimo"/>
              </a:rPr>
              <a:t>Continuously Adapts recommandations based on user feedbacks (good , neutral,bad )</a:t>
            </a:r>
          </a:p>
        </p:txBody>
      </p:sp>
      <p:sp>
        <p:nvSpPr>
          <p:cNvPr id="25" name="Freeform 25" descr="preencoded.png"/>
          <p:cNvSpPr/>
          <p:nvPr/>
        </p:nvSpPr>
        <p:spPr>
          <a:xfrm>
            <a:off x="9144000" y="7738015"/>
            <a:ext cx="708717" cy="708717"/>
          </a:xfrm>
          <a:custGeom>
            <a:avLst/>
            <a:gdLst/>
            <a:ahLst/>
            <a:cxnLst/>
            <a:rect l="l" t="t" r="r" b="b"/>
            <a:pathLst>
              <a:path w="708717" h="708717">
                <a:moveTo>
                  <a:pt x="0" y="0"/>
                </a:moveTo>
                <a:lnTo>
                  <a:pt x="708717" y="0"/>
                </a:lnTo>
                <a:lnTo>
                  <a:pt x="708717" y="708717"/>
                </a:lnTo>
                <a:lnTo>
                  <a:pt x="0" y="708717"/>
                </a:lnTo>
                <a:lnTo>
                  <a:pt x="0" y="0"/>
                </a:lnTo>
                <a:close/>
              </a:path>
            </a:pathLst>
          </a:custGeom>
          <a:blipFill>
            <a:blip>
              <a:extLst>
                <a:ext uri="{96DAC541-7B7A-43D3-8B79-37D633B846F1}">
                  <asvg:svgBlip xmlns:asvg="http://schemas.microsoft.com/office/drawing/2016/SVG/main" r:embed="rId5"/>
                </a:ext>
              </a:extLst>
            </a:blip>
            <a:stretch>
              <a:fillRect t="-96000" b="-96000"/>
            </a:stretch>
          </a:blipFill>
        </p:spPr>
        <p:txBody>
          <a:bodyPr/>
          <a:lstStyle/>
          <a:p>
            <a:endParaRPr lang="en-IN"/>
          </a:p>
        </p:txBody>
      </p:sp>
      <p:sp>
        <p:nvSpPr>
          <p:cNvPr id="26" name="TextBox 26"/>
          <p:cNvSpPr txBox="1"/>
          <p:nvPr/>
        </p:nvSpPr>
        <p:spPr>
          <a:xfrm>
            <a:off x="10207076" y="7728490"/>
            <a:ext cx="5935193" cy="420687"/>
          </a:xfrm>
          <a:prstGeom prst="rect">
            <a:avLst/>
          </a:prstGeom>
        </p:spPr>
        <p:txBody>
          <a:bodyPr lIns="0" tIns="0" rIns="0" bIns="0" rtlCol="0" anchor="t">
            <a:spAutoFit/>
          </a:bodyPr>
          <a:lstStyle/>
          <a:p>
            <a:pPr algn="l">
              <a:lnSpc>
                <a:spcPts val="3437"/>
              </a:lnSpc>
            </a:pPr>
            <a:r>
              <a:rPr lang="en-US" sz="2750" b="1">
                <a:solidFill>
                  <a:srgbClr val="405449"/>
                </a:solidFill>
                <a:latin typeface="Fraunces Bold"/>
                <a:ea typeface="Fraunces Bold"/>
                <a:cs typeface="Fraunces Bold"/>
                <a:sym typeface="Fraunces Bold"/>
              </a:rPr>
              <a:t>Centralized Family Diet Tracking</a:t>
            </a:r>
          </a:p>
        </p:txBody>
      </p:sp>
      <p:sp>
        <p:nvSpPr>
          <p:cNvPr id="27" name="TextBox 27"/>
          <p:cNvSpPr txBox="1"/>
          <p:nvPr/>
        </p:nvSpPr>
        <p:spPr>
          <a:xfrm>
            <a:off x="10207076" y="8246269"/>
            <a:ext cx="6911426" cy="881063"/>
          </a:xfrm>
          <a:prstGeom prst="rect">
            <a:avLst/>
          </a:prstGeom>
        </p:spPr>
        <p:txBody>
          <a:bodyPr lIns="0" tIns="0" rIns="0" bIns="0" rtlCol="0" anchor="t">
            <a:spAutoFit/>
          </a:bodyPr>
          <a:lstStyle/>
          <a:p>
            <a:pPr algn="l">
              <a:lnSpc>
                <a:spcPts val="3562"/>
              </a:lnSpc>
            </a:pPr>
            <a:r>
              <a:rPr lang="en-US" sz="2187">
                <a:solidFill>
                  <a:srgbClr val="405449"/>
                </a:solidFill>
                <a:latin typeface="Arimo"/>
                <a:ea typeface="Arimo"/>
                <a:cs typeface="Arimo"/>
                <a:sym typeface="Arimo"/>
              </a:rPr>
              <a:t>Share Dosha Profiles and &amp; weekly reccommandations  within family groups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EEE1"/>
            </a:solidFill>
            <a:ln w="12700">
              <a:solidFill>
                <a:srgbClr val="000000"/>
              </a:solidFill>
            </a:ln>
          </p:spPr>
          <p:txBody>
            <a:bodyPr/>
            <a:lstStyle/>
            <a:p>
              <a:endParaRPr lang="en-IN"/>
            </a:p>
          </p:txBody>
        </p:sp>
      </p:grpSp>
      <p:grpSp>
        <p:nvGrpSpPr>
          <p:cNvPr id="4" name="Group 4"/>
          <p:cNvGrpSpPr/>
          <p:nvPr/>
        </p:nvGrpSpPr>
        <p:grpSpPr>
          <a:xfrm>
            <a:off x="10317136" y="0"/>
            <a:ext cx="7970864" cy="10287000"/>
            <a:chOff x="0" y="0"/>
            <a:chExt cx="17373995" cy="22422450"/>
          </a:xfrm>
        </p:grpSpPr>
        <p:sp>
          <p:nvSpPr>
            <p:cNvPr id="5" name="Freeform 5"/>
            <p:cNvSpPr/>
            <p:nvPr/>
          </p:nvSpPr>
          <p:spPr>
            <a:xfrm>
              <a:off x="0" y="0"/>
              <a:ext cx="17373995" cy="22422450"/>
            </a:xfrm>
            <a:custGeom>
              <a:avLst/>
              <a:gdLst/>
              <a:ahLst/>
              <a:cxnLst/>
              <a:rect l="l" t="t" r="r" b="b"/>
              <a:pathLst>
                <a:path w="17373995" h="22422450">
                  <a:moveTo>
                    <a:pt x="0" y="0"/>
                  </a:moveTo>
                  <a:lnTo>
                    <a:pt x="17373995" y="0"/>
                  </a:lnTo>
                  <a:lnTo>
                    <a:pt x="17373995" y="22422450"/>
                  </a:lnTo>
                  <a:lnTo>
                    <a:pt x="0" y="22422450"/>
                  </a:lnTo>
                  <a:close/>
                </a:path>
              </a:pathLst>
            </a:custGeom>
            <a:blipFill>
              <a:blip r:embed="rId3"/>
              <a:stretch>
                <a:fillRect t="-8149" b="-8149"/>
              </a:stretch>
            </a:blipFill>
          </p:spPr>
          <p:txBody>
            <a:bodyPr/>
            <a:lstStyle/>
            <a:p>
              <a:endParaRPr lang="en-IN"/>
            </a:p>
          </p:txBody>
        </p:sp>
      </p:grpSp>
      <p:sp>
        <p:nvSpPr>
          <p:cNvPr id="6" name="TextBox 6"/>
          <p:cNvSpPr txBox="1"/>
          <p:nvPr/>
        </p:nvSpPr>
        <p:spPr>
          <a:xfrm>
            <a:off x="711098" y="1670294"/>
            <a:ext cx="16865803" cy="317002"/>
          </a:xfrm>
          <a:prstGeom prst="rect">
            <a:avLst/>
          </a:prstGeom>
        </p:spPr>
        <p:txBody>
          <a:bodyPr lIns="0" tIns="0" rIns="0" bIns="0" rtlCol="0" anchor="t">
            <a:spAutoFit/>
          </a:bodyPr>
          <a:lstStyle/>
          <a:p>
            <a:pPr algn="l">
              <a:lnSpc>
                <a:spcPts val="2187"/>
              </a:lnSpc>
            </a:pPr>
            <a:r>
              <a:rPr lang="en-US" sz="1562">
                <a:solidFill>
                  <a:srgbClr val="405449"/>
                </a:solidFill>
                <a:latin typeface="Arimo"/>
                <a:ea typeface="Arimo"/>
                <a:cs typeface="Arimo"/>
                <a:sym typeface="Arimo"/>
              </a:rPr>
              <a:t>.</a:t>
            </a:r>
          </a:p>
        </p:txBody>
      </p:sp>
      <p:grpSp>
        <p:nvGrpSpPr>
          <p:cNvPr id="7" name="Group 7"/>
          <p:cNvGrpSpPr/>
          <p:nvPr/>
        </p:nvGrpSpPr>
        <p:grpSpPr>
          <a:xfrm>
            <a:off x="1904130" y="1417291"/>
            <a:ext cx="6999148" cy="9792563"/>
            <a:chOff x="0" y="0"/>
            <a:chExt cx="5619153" cy="7861801"/>
          </a:xfrm>
        </p:grpSpPr>
        <p:sp>
          <p:nvSpPr>
            <p:cNvPr id="8" name="Freeform 8" descr="preencoded.png"/>
            <p:cNvSpPr/>
            <p:nvPr/>
          </p:nvSpPr>
          <p:spPr>
            <a:xfrm>
              <a:off x="0" y="0"/>
              <a:ext cx="5619115" cy="7861777"/>
            </a:xfrm>
            <a:custGeom>
              <a:avLst/>
              <a:gdLst/>
              <a:ahLst/>
              <a:cxnLst/>
              <a:rect l="l" t="t" r="r" b="b"/>
              <a:pathLst>
                <a:path w="5619115" h="7861777">
                  <a:moveTo>
                    <a:pt x="0" y="0"/>
                  </a:moveTo>
                  <a:lnTo>
                    <a:pt x="5619115" y="0"/>
                  </a:lnTo>
                  <a:lnTo>
                    <a:pt x="5619115" y="7861777"/>
                  </a:lnTo>
                  <a:lnTo>
                    <a:pt x="0" y="7861777"/>
                  </a:lnTo>
                  <a:lnTo>
                    <a:pt x="0" y="0"/>
                  </a:lnTo>
                  <a:close/>
                </a:path>
              </a:pathLst>
            </a:custGeom>
            <a:blipFill>
              <a:blip r:embed="rId4"/>
              <a:stretch>
                <a:fillRect t="-3686" b="-3686"/>
              </a:stretch>
            </a:blipFill>
          </p:spPr>
          <p:txBody>
            <a:bodyPr/>
            <a:lstStyle/>
            <a:p>
              <a:endParaRPr lang="en-IN"/>
            </a:p>
          </p:txBody>
        </p:sp>
      </p:grpSp>
      <p:sp>
        <p:nvSpPr>
          <p:cNvPr id="9" name="TextBox 9"/>
          <p:cNvSpPr txBox="1"/>
          <p:nvPr/>
        </p:nvSpPr>
        <p:spPr>
          <a:xfrm>
            <a:off x="260898" y="463081"/>
            <a:ext cx="10870915" cy="583983"/>
          </a:xfrm>
          <a:prstGeom prst="rect">
            <a:avLst/>
          </a:prstGeom>
        </p:spPr>
        <p:txBody>
          <a:bodyPr lIns="0" tIns="0" rIns="0" bIns="0" rtlCol="0" anchor="t">
            <a:spAutoFit/>
          </a:bodyPr>
          <a:lstStyle/>
          <a:p>
            <a:pPr algn="l">
              <a:lnSpc>
                <a:spcPts val="4686"/>
              </a:lnSpc>
            </a:pPr>
            <a:r>
              <a:rPr lang="en-US" sz="3737" b="1">
                <a:solidFill>
                  <a:srgbClr val="3B4540"/>
                </a:solidFill>
                <a:latin typeface="Fraunces Bold"/>
                <a:ea typeface="Fraunces Bold"/>
                <a:cs typeface="Fraunces Bold"/>
                <a:sym typeface="Fraunces Bold"/>
              </a:rPr>
              <a:t>Life Cycle of the Project : End to End Flow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EEE1"/>
            </a:solidFill>
            <a:ln w="12700">
              <a:solidFill>
                <a:srgbClr val="000000"/>
              </a:solidFill>
            </a:ln>
          </p:spPr>
          <p:txBody>
            <a:bodyPr/>
            <a:lstStyle/>
            <a:p>
              <a:endParaRPr lang="en-IN"/>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FFA"/>
            </a:solidFill>
            <a:ln w="12700">
              <a:solidFill>
                <a:srgbClr val="000000"/>
              </a:solidFill>
            </a:ln>
          </p:spPr>
          <p:txBody>
            <a:bodyPr/>
            <a:lstStyle/>
            <a:p>
              <a:endParaRPr lang="en-IN"/>
            </a:p>
          </p:txBody>
        </p:sp>
      </p:grpSp>
      <p:sp>
        <p:nvSpPr>
          <p:cNvPr id="6" name="TextBox 6"/>
          <p:cNvSpPr txBox="1"/>
          <p:nvPr/>
        </p:nvSpPr>
        <p:spPr>
          <a:xfrm>
            <a:off x="992238" y="1217562"/>
            <a:ext cx="14316227" cy="905027"/>
          </a:xfrm>
          <a:prstGeom prst="rect">
            <a:avLst/>
          </a:prstGeom>
        </p:spPr>
        <p:txBody>
          <a:bodyPr lIns="0" tIns="0" rIns="0" bIns="0" rtlCol="0" anchor="t">
            <a:spAutoFit/>
          </a:bodyPr>
          <a:lstStyle/>
          <a:p>
            <a:pPr algn="l">
              <a:lnSpc>
                <a:spcPts val="6937"/>
              </a:lnSpc>
            </a:pPr>
            <a:r>
              <a:rPr lang="en-US" sz="5562" b="1">
                <a:solidFill>
                  <a:srgbClr val="3B4540"/>
                </a:solidFill>
                <a:latin typeface="Fraunces Bold"/>
                <a:ea typeface="Fraunces Bold"/>
                <a:cs typeface="Fraunces Bold"/>
                <a:sym typeface="Fraunces Bold"/>
              </a:rPr>
              <a:t>Feasibility: Technical &amp; Ayurvedic Rigor</a:t>
            </a:r>
          </a:p>
        </p:txBody>
      </p:sp>
      <p:sp>
        <p:nvSpPr>
          <p:cNvPr id="7" name="TextBox 7"/>
          <p:cNvSpPr txBox="1"/>
          <p:nvPr/>
        </p:nvSpPr>
        <p:spPr>
          <a:xfrm>
            <a:off x="992238" y="2584847"/>
            <a:ext cx="16303523" cy="1012031"/>
          </a:xfrm>
          <a:prstGeom prst="rect">
            <a:avLst/>
          </a:prstGeom>
        </p:spPr>
        <p:txBody>
          <a:bodyPr lIns="0" tIns="0" rIns="0" bIns="0" rtlCol="0" anchor="t">
            <a:spAutoFit/>
          </a:bodyPr>
          <a:lstStyle/>
          <a:p>
            <a:pPr algn="l">
              <a:lnSpc>
                <a:spcPts val="3562"/>
              </a:lnSpc>
            </a:pPr>
            <a:r>
              <a:rPr lang="en-US" sz="2187">
                <a:solidFill>
                  <a:srgbClr val="405449"/>
                </a:solidFill>
                <a:latin typeface="Arimo"/>
                <a:ea typeface="Arimo"/>
                <a:cs typeface="Arimo"/>
                <a:sym typeface="Arimo"/>
              </a:rPr>
              <a:t>Ayushya is built on a robust technical stack and adheres strictly to foundational Ayurvedic principles, ensuring both reliability and authentic application.</a:t>
            </a:r>
          </a:p>
        </p:txBody>
      </p:sp>
      <p:sp>
        <p:nvSpPr>
          <p:cNvPr id="8" name="TextBox 8"/>
          <p:cNvSpPr txBox="1"/>
          <p:nvPr/>
        </p:nvSpPr>
        <p:spPr>
          <a:xfrm>
            <a:off x="992238" y="4189809"/>
            <a:ext cx="3900335" cy="452437"/>
          </a:xfrm>
          <a:prstGeom prst="rect">
            <a:avLst/>
          </a:prstGeom>
        </p:spPr>
        <p:txBody>
          <a:bodyPr lIns="0" tIns="0" rIns="0" bIns="0" rtlCol="0" anchor="t">
            <a:spAutoFit/>
          </a:bodyPr>
          <a:lstStyle/>
          <a:p>
            <a:pPr algn="l">
              <a:lnSpc>
                <a:spcPts val="3437"/>
              </a:lnSpc>
            </a:pPr>
            <a:r>
              <a:rPr lang="en-US" sz="2750" b="1">
                <a:solidFill>
                  <a:srgbClr val="3B4540"/>
                </a:solidFill>
                <a:latin typeface="Fraunces Bold"/>
                <a:ea typeface="Fraunces Bold"/>
                <a:cs typeface="Fraunces Bold"/>
                <a:sym typeface="Fraunces Bold"/>
              </a:rPr>
              <a:t>Technical Foundation</a:t>
            </a:r>
          </a:p>
        </p:txBody>
      </p:sp>
      <p:sp>
        <p:nvSpPr>
          <p:cNvPr id="9" name="TextBox 9"/>
          <p:cNvSpPr txBox="1"/>
          <p:nvPr/>
        </p:nvSpPr>
        <p:spPr>
          <a:xfrm>
            <a:off x="992238" y="4820993"/>
            <a:ext cx="7805890" cy="3734019"/>
          </a:xfrm>
          <a:prstGeom prst="rect">
            <a:avLst/>
          </a:prstGeom>
        </p:spPr>
        <p:txBody>
          <a:bodyPr lIns="0" tIns="0" rIns="0" bIns="0" rtlCol="0" anchor="t">
            <a:spAutoFit/>
          </a:bodyPr>
          <a:lstStyle/>
          <a:p>
            <a:pPr marL="329902" lvl="1" indent="-164951" algn="l">
              <a:lnSpc>
                <a:spcPts val="3562"/>
              </a:lnSpc>
              <a:buFont typeface="Arial"/>
              <a:buChar char="•"/>
            </a:pPr>
            <a:r>
              <a:rPr lang="en-US" sz="2187" b="1">
                <a:solidFill>
                  <a:srgbClr val="405449"/>
                </a:solidFill>
                <a:latin typeface="Arimo Bold"/>
                <a:ea typeface="Arimo Bold"/>
                <a:cs typeface="Arimo Bold"/>
                <a:sym typeface="Arimo Bold"/>
              </a:rPr>
              <a:t>Frontend:</a:t>
            </a:r>
            <a:r>
              <a:rPr lang="en-US" sz="2187">
                <a:solidFill>
                  <a:srgbClr val="405449"/>
                </a:solidFill>
                <a:latin typeface="Arimo"/>
                <a:ea typeface="Arimo"/>
                <a:cs typeface="Arimo"/>
                <a:sym typeface="Arimo"/>
              </a:rPr>
              <a:t> React, Vite, Tailwind CSS for a modern, responsive user experience.</a:t>
            </a:r>
          </a:p>
          <a:p>
            <a:pPr marL="329902" lvl="1" indent="-164951" algn="l">
              <a:lnSpc>
                <a:spcPts val="3562"/>
              </a:lnSpc>
              <a:buFont typeface="Arial"/>
              <a:buChar char="•"/>
            </a:pPr>
            <a:r>
              <a:rPr lang="en-US" sz="2187" b="1">
                <a:solidFill>
                  <a:srgbClr val="405449"/>
                </a:solidFill>
                <a:latin typeface="Arimo Bold"/>
                <a:ea typeface="Arimo Bold"/>
                <a:cs typeface="Arimo Bold"/>
                <a:sym typeface="Arimo Bold"/>
              </a:rPr>
              <a:t>Backend:</a:t>
            </a:r>
            <a:r>
              <a:rPr lang="en-US" sz="2187">
                <a:solidFill>
                  <a:srgbClr val="405449"/>
                </a:solidFill>
                <a:latin typeface="Arimo"/>
                <a:ea typeface="Arimo"/>
                <a:cs typeface="Arimo"/>
                <a:sym typeface="Arimo"/>
              </a:rPr>
              <a:t> FastAPI for high-performance, asynchronous data processing.</a:t>
            </a:r>
          </a:p>
          <a:p>
            <a:pPr marL="329902" lvl="1" indent="-164951" algn="l">
              <a:lnSpc>
                <a:spcPts val="3562"/>
              </a:lnSpc>
              <a:buFont typeface="Arial"/>
              <a:buChar char="•"/>
            </a:pPr>
            <a:r>
              <a:rPr lang="en-US" sz="2187" b="1">
                <a:solidFill>
                  <a:srgbClr val="405449"/>
                </a:solidFill>
                <a:latin typeface="Arimo Bold"/>
                <a:ea typeface="Arimo Bold"/>
                <a:cs typeface="Arimo Bold"/>
                <a:sym typeface="Arimo Bold"/>
              </a:rPr>
              <a:t>ML:</a:t>
            </a:r>
            <a:r>
              <a:rPr lang="en-US" sz="2187">
                <a:solidFill>
                  <a:srgbClr val="405449"/>
                </a:solidFill>
                <a:latin typeface="Arimo"/>
                <a:ea typeface="Arimo"/>
                <a:cs typeface="Arimo"/>
                <a:sym typeface="Arimo"/>
              </a:rPr>
              <a:t> Leverages ready-to-use Kaggle datasets for efficient model development.</a:t>
            </a:r>
          </a:p>
          <a:p>
            <a:pPr marL="329902" lvl="1" indent="-164951" algn="l">
              <a:lnSpc>
                <a:spcPts val="3562"/>
              </a:lnSpc>
              <a:buFont typeface="Arial"/>
              <a:buChar char="•"/>
            </a:pPr>
            <a:r>
              <a:rPr lang="en-US" sz="2187" b="1">
                <a:solidFill>
                  <a:srgbClr val="405449"/>
                </a:solidFill>
                <a:latin typeface="Arimo Bold"/>
                <a:ea typeface="Arimo Bold"/>
                <a:cs typeface="Arimo Bold"/>
                <a:sym typeface="Arimo Bold"/>
              </a:rPr>
              <a:t>Database:</a:t>
            </a:r>
            <a:r>
              <a:rPr lang="en-US" sz="2187">
                <a:solidFill>
                  <a:srgbClr val="405449"/>
                </a:solidFill>
                <a:latin typeface="Arimo"/>
                <a:ea typeface="Arimo"/>
                <a:cs typeface="Arimo"/>
                <a:sym typeface="Arimo"/>
              </a:rPr>
              <a:t> MongoDB </a:t>
            </a:r>
          </a:p>
          <a:p>
            <a:pPr marL="329902" lvl="1" indent="-164951" algn="l">
              <a:lnSpc>
                <a:spcPts val="3562"/>
              </a:lnSpc>
              <a:buFont typeface="Arial"/>
              <a:buChar char="•"/>
            </a:pPr>
            <a:r>
              <a:rPr lang="en-US" sz="2187" b="1">
                <a:solidFill>
                  <a:srgbClr val="405449"/>
                </a:solidFill>
                <a:latin typeface="Arimo Bold"/>
                <a:ea typeface="Arimo Bold"/>
                <a:cs typeface="Arimo Bold"/>
                <a:sym typeface="Arimo Bold"/>
              </a:rPr>
              <a:t>Deployment:</a:t>
            </a:r>
            <a:r>
              <a:rPr lang="en-US" sz="2187">
                <a:solidFill>
                  <a:srgbClr val="405449"/>
                </a:solidFill>
                <a:latin typeface="Arimo"/>
                <a:ea typeface="Arimo"/>
                <a:cs typeface="Arimo"/>
                <a:sym typeface="Arimo"/>
              </a:rPr>
              <a:t> Docker containerization </a:t>
            </a:r>
          </a:p>
        </p:txBody>
      </p:sp>
      <p:sp>
        <p:nvSpPr>
          <p:cNvPr id="10" name="TextBox 10"/>
          <p:cNvSpPr txBox="1"/>
          <p:nvPr/>
        </p:nvSpPr>
        <p:spPr>
          <a:xfrm>
            <a:off x="9499397" y="4189809"/>
            <a:ext cx="4106618" cy="452437"/>
          </a:xfrm>
          <a:prstGeom prst="rect">
            <a:avLst/>
          </a:prstGeom>
        </p:spPr>
        <p:txBody>
          <a:bodyPr lIns="0" tIns="0" rIns="0" bIns="0" rtlCol="0" anchor="t">
            <a:spAutoFit/>
          </a:bodyPr>
          <a:lstStyle/>
          <a:p>
            <a:pPr algn="l">
              <a:lnSpc>
                <a:spcPts val="3437"/>
              </a:lnSpc>
            </a:pPr>
            <a:r>
              <a:rPr lang="en-US" sz="2750" b="1">
                <a:solidFill>
                  <a:srgbClr val="3B4540"/>
                </a:solidFill>
                <a:latin typeface="Fraunces Bold"/>
                <a:ea typeface="Fraunces Bold"/>
                <a:cs typeface="Fraunces Bold"/>
                <a:sym typeface="Fraunces Bold"/>
              </a:rPr>
              <a:t>Ayurvedic Model Rigor</a:t>
            </a:r>
          </a:p>
        </p:txBody>
      </p:sp>
      <p:sp>
        <p:nvSpPr>
          <p:cNvPr id="11" name="TextBox 11"/>
          <p:cNvSpPr txBox="1"/>
          <p:nvPr/>
        </p:nvSpPr>
        <p:spPr>
          <a:xfrm>
            <a:off x="9499397" y="4820993"/>
            <a:ext cx="7805890" cy="3280362"/>
          </a:xfrm>
          <a:prstGeom prst="rect">
            <a:avLst/>
          </a:prstGeom>
        </p:spPr>
        <p:txBody>
          <a:bodyPr lIns="0" tIns="0" rIns="0" bIns="0" rtlCol="0" anchor="t">
            <a:spAutoFit/>
          </a:bodyPr>
          <a:lstStyle/>
          <a:p>
            <a:pPr marL="329902" lvl="1" indent="-164951" algn="l">
              <a:lnSpc>
                <a:spcPts val="3562"/>
              </a:lnSpc>
              <a:buFont typeface="Arial"/>
              <a:buChar char="•"/>
            </a:pPr>
            <a:r>
              <a:rPr lang="en-US" sz="2187" b="1">
                <a:solidFill>
                  <a:srgbClr val="405449"/>
                </a:solidFill>
                <a:latin typeface="Arimo Bold"/>
                <a:ea typeface="Arimo Bold"/>
                <a:cs typeface="Arimo Bold"/>
                <a:sym typeface="Arimo Bold"/>
              </a:rPr>
              <a:t>Validated Framework:</a:t>
            </a:r>
            <a:r>
              <a:rPr lang="en-US" sz="2187">
                <a:solidFill>
                  <a:srgbClr val="405449"/>
                </a:solidFill>
                <a:latin typeface="Arimo"/>
                <a:ea typeface="Arimo"/>
                <a:cs typeface="Arimo"/>
                <a:sym typeface="Arimo"/>
              </a:rPr>
              <a:t> Adheres to Charak Samhita principles for Dosha, Satmya, Ritu/Desha/Kala.</a:t>
            </a:r>
          </a:p>
          <a:p>
            <a:pPr marL="329902" lvl="1" indent="-164951" algn="l">
              <a:lnSpc>
                <a:spcPts val="3562"/>
              </a:lnSpc>
              <a:buFont typeface="Arial"/>
              <a:buChar char="•"/>
            </a:pPr>
            <a:r>
              <a:rPr lang="en-US" sz="2187" b="1">
                <a:solidFill>
                  <a:srgbClr val="405449"/>
                </a:solidFill>
                <a:latin typeface="Arimo Bold"/>
                <a:ea typeface="Arimo Bold"/>
                <a:cs typeface="Arimo Bold"/>
                <a:sym typeface="Arimo Bold"/>
              </a:rPr>
              <a:t>Rule-based Diet Mapping:</a:t>
            </a:r>
            <a:r>
              <a:rPr lang="en-US" sz="2187">
                <a:solidFill>
                  <a:srgbClr val="405449"/>
                </a:solidFill>
                <a:latin typeface="Arimo"/>
                <a:ea typeface="Arimo"/>
                <a:cs typeface="Arimo"/>
                <a:sym typeface="Arimo"/>
              </a:rPr>
              <a:t> Precise algorithms for personalised food recommendations.</a:t>
            </a:r>
          </a:p>
          <a:p>
            <a:pPr marL="329902" lvl="1" indent="-164951" algn="l">
              <a:lnSpc>
                <a:spcPts val="3562"/>
              </a:lnSpc>
              <a:buFont typeface="Arial"/>
              <a:buChar char="•"/>
            </a:pPr>
            <a:r>
              <a:rPr lang="en-US" sz="2187" b="1">
                <a:solidFill>
                  <a:srgbClr val="405449"/>
                </a:solidFill>
                <a:latin typeface="Arimo Bold"/>
                <a:ea typeface="Arimo Bold"/>
                <a:cs typeface="Arimo Bold"/>
                <a:sym typeface="Arimo Bold"/>
              </a:rPr>
              <a:t>Risk Flags:</a:t>
            </a:r>
            <a:r>
              <a:rPr lang="en-US" sz="2187">
                <a:solidFill>
                  <a:srgbClr val="405449"/>
                </a:solidFill>
                <a:latin typeface="Arimo"/>
                <a:ea typeface="Arimo"/>
                <a:cs typeface="Arimo"/>
                <a:sym typeface="Arimo"/>
              </a:rPr>
              <a:t> Daily feedback loop monitors Agni/digestion, enabling proactive adjustments and user insights.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501292"/>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FFA"/>
            </a:solidFill>
            <a:ln w="12700">
              <a:solidFill>
                <a:srgbClr val="000000"/>
              </a:solidFill>
            </a:ln>
          </p:spPr>
          <p:txBody>
            <a:bodyPr/>
            <a:lstStyle/>
            <a:p>
              <a:endParaRPr lang="en-IN"/>
            </a:p>
          </p:txBody>
        </p:sp>
      </p:grpSp>
      <p:grpSp>
        <p:nvGrpSpPr>
          <p:cNvPr id="4" name="Group 4"/>
          <p:cNvGrpSpPr/>
          <p:nvPr/>
        </p:nvGrpSpPr>
        <p:grpSpPr>
          <a:xfrm>
            <a:off x="-183229" y="-142098"/>
            <a:ext cx="18288000" cy="3012434"/>
            <a:chOff x="0" y="0"/>
            <a:chExt cx="24384000" cy="4016578"/>
          </a:xfrm>
        </p:grpSpPr>
        <p:sp>
          <p:nvSpPr>
            <p:cNvPr id="5" name="Freeform 5" descr="preencoded.png"/>
            <p:cNvSpPr/>
            <p:nvPr/>
          </p:nvSpPr>
          <p:spPr>
            <a:xfrm>
              <a:off x="0" y="0"/>
              <a:ext cx="24384000" cy="4016629"/>
            </a:xfrm>
            <a:custGeom>
              <a:avLst/>
              <a:gdLst/>
              <a:ahLst/>
              <a:cxnLst/>
              <a:rect l="l" t="t" r="r" b="b"/>
              <a:pathLst>
                <a:path w="24384000" h="4016629">
                  <a:moveTo>
                    <a:pt x="0" y="0"/>
                  </a:moveTo>
                  <a:lnTo>
                    <a:pt x="24384000" y="0"/>
                  </a:lnTo>
                  <a:lnTo>
                    <a:pt x="24384000" y="4016629"/>
                  </a:lnTo>
                  <a:lnTo>
                    <a:pt x="0" y="4016629"/>
                  </a:lnTo>
                  <a:lnTo>
                    <a:pt x="0" y="0"/>
                  </a:lnTo>
                  <a:close/>
                </a:path>
              </a:pathLst>
            </a:custGeom>
            <a:blipFill>
              <a:blip r:embed="rId3"/>
              <a:stretch>
                <a:fillRect l="-42" r="-42" b="1"/>
              </a:stretch>
            </a:blipFill>
          </p:spPr>
          <p:txBody>
            <a:bodyPr/>
            <a:lstStyle/>
            <a:p>
              <a:endParaRPr lang="en-IN"/>
            </a:p>
          </p:txBody>
        </p:sp>
      </p:grpSp>
      <p:sp>
        <p:nvSpPr>
          <p:cNvPr id="6" name="TextBox 6"/>
          <p:cNvSpPr txBox="1"/>
          <p:nvPr/>
        </p:nvSpPr>
        <p:spPr>
          <a:xfrm>
            <a:off x="655789" y="3622811"/>
            <a:ext cx="15047119" cy="739775"/>
          </a:xfrm>
          <a:prstGeom prst="rect">
            <a:avLst/>
          </a:prstGeom>
        </p:spPr>
        <p:txBody>
          <a:bodyPr lIns="0" tIns="0" rIns="0" bIns="0" rtlCol="0" anchor="t">
            <a:spAutoFit/>
          </a:bodyPr>
          <a:lstStyle/>
          <a:p>
            <a:pPr algn="l">
              <a:lnSpc>
                <a:spcPts val="5874"/>
              </a:lnSpc>
            </a:pPr>
            <a:r>
              <a:rPr lang="en-US" sz="4687" b="1">
                <a:solidFill>
                  <a:srgbClr val="3B4540"/>
                </a:solidFill>
                <a:latin typeface="Fraunces Bold"/>
                <a:ea typeface="Fraunces Bold"/>
                <a:cs typeface="Fraunces Bold"/>
                <a:sym typeface="Fraunces Bold"/>
              </a:rPr>
              <a:t>Ayushya's Evolution: Future Scope And Challenges</a:t>
            </a:r>
          </a:p>
        </p:txBody>
      </p:sp>
      <p:grpSp>
        <p:nvGrpSpPr>
          <p:cNvPr id="7" name="Group 7"/>
          <p:cNvGrpSpPr/>
          <p:nvPr/>
        </p:nvGrpSpPr>
        <p:grpSpPr>
          <a:xfrm>
            <a:off x="1028700" y="5143500"/>
            <a:ext cx="4986185" cy="2796188"/>
            <a:chOff x="0" y="0"/>
            <a:chExt cx="6648247" cy="3728250"/>
          </a:xfrm>
        </p:grpSpPr>
        <p:sp>
          <p:nvSpPr>
            <p:cNvPr id="8" name="TextBox 8"/>
            <p:cNvSpPr txBox="1"/>
            <p:nvPr/>
          </p:nvSpPr>
          <p:spPr>
            <a:xfrm>
              <a:off x="0" y="0"/>
              <a:ext cx="5251056" cy="602463"/>
            </a:xfrm>
            <a:prstGeom prst="rect">
              <a:avLst/>
            </a:prstGeom>
          </p:spPr>
          <p:txBody>
            <a:bodyPr lIns="0" tIns="0" rIns="0" bIns="0" rtlCol="0" anchor="t">
              <a:spAutoFit/>
            </a:bodyPr>
            <a:lstStyle/>
            <a:p>
              <a:pPr algn="l">
                <a:lnSpc>
                  <a:spcPts val="3499"/>
                </a:lnSpc>
              </a:pPr>
              <a:r>
                <a:rPr lang="en-US" sz="2812" b="1">
                  <a:solidFill>
                    <a:srgbClr val="3B4540"/>
                  </a:solidFill>
                  <a:latin typeface="Fraunces Bold"/>
                  <a:ea typeface="Fraunces Bold"/>
                  <a:cs typeface="Fraunces Bold"/>
                  <a:sym typeface="Fraunces Bold"/>
                </a:rPr>
                <a:t>Wearable Integration</a:t>
              </a:r>
            </a:p>
          </p:txBody>
        </p:sp>
        <p:sp>
          <p:nvSpPr>
            <p:cNvPr id="9" name="TextBox 9"/>
            <p:cNvSpPr txBox="1"/>
            <p:nvPr/>
          </p:nvSpPr>
          <p:spPr>
            <a:xfrm>
              <a:off x="0" y="799313"/>
              <a:ext cx="6648247" cy="2928938"/>
            </a:xfrm>
            <a:prstGeom prst="rect">
              <a:avLst/>
            </a:prstGeom>
          </p:spPr>
          <p:txBody>
            <a:bodyPr lIns="0" tIns="0" rIns="0" bIns="0" rtlCol="0" anchor="t">
              <a:spAutoFit/>
            </a:bodyPr>
            <a:lstStyle/>
            <a:p>
              <a:pPr algn="l">
                <a:lnSpc>
                  <a:spcPts val="2749"/>
                </a:lnSpc>
              </a:pPr>
              <a:r>
                <a:rPr lang="en-US" sz="1874">
                  <a:solidFill>
                    <a:srgbClr val="405449"/>
                  </a:solidFill>
                  <a:latin typeface="Arimo"/>
                  <a:ea typeface="Arimo"/>
                  <a:cs typeface="Arimo"/>
                  <a:sym typeface="Arimo"/>
                </a:rPr>
                <a:t>Real-time biometric data from wearables (sleep, activity, heart rate) will dynamically refine Dosha assessments. This passive monitoring enables hyper-personalised recommendations, proactively addressing imbalances.</a:t>
              </a:r>
            </a:p>
          </p:txBody>
        </p:sp>
      </p:grpSp>
      <p:grpSp>
        <p:nvGrpSpPr>
          <p:cNvPr id="10" name="Group 10"/>
          <p:cNvGrpSpPr/>
          <p:nvPr/>
        </p:nvGrpSpPr>
        <p:grpSpPr>
          <a:xfrm>
            <a:off x="6224290" y="5048250"/>
            <a:ext cx="4986185" cy="2891438"/>
            <a:chOff x="0" y="0"/>
            <a:chExt cx="6648247" cy="3855250"/>
          </a:xfrm>
        </p:grpSpPr>
        <p:sp>
          <p:nvSpPr>
            <p:cNvPr id="11" name="TextBox 11"/>
            <p:cNvSpPr txBox="1"/>
            <p:nvPr/>
          </p:nvSpPr>
          <p:spPr>
            <a:xfrm>
              <a:off x="0" y="0"/>
              <a:ext cx="6648247" cy="1204912"/>
            </a:xfrm>
            <a:prstGeom prst="rect">
              <a:avLst/>
            </a:prstGeom>
          </p:spPr>
          <p:txBody>
            <a:bodyPr lIns="0" tIns="0" rIns="0" bIns="0" rtlCol="0" anchor="t">
              <a:spAutoFit/>
            </a:bodyPr>
            <a:lstStyle/>
            <a:p>
              <a:pPr algn="l">
                <a:lnSpc>
                  <a:spcPts val="3499"/>
                </a:lnSpc>
              </a:pPr>
              <a:r>
                <a:rPr lang="en-US" sz="2812" b="1">
                  <a:solidFill>
                    <a:srgbClr val="3B4540"/>
                  </a:solidFill>
                  <a:latin typeface="Fraunces Bold"/>
                  <a:ea typeface="Fraunces Bold"/>
                  <a:cs typeface="Fraunces Bold"/>
                  <a:sym typeface="Fraunces Bold"/>
                </a:rPr>
                <a:t>Adaptive Planning &amp; Adherence</a:t>
              </a:r>
            </a:p>
          </p:txBody>
        </p:sp>
        <p:sp>
          <p:nvSpPr>
            <p:cNvPr id="12" name="TextBox 12"/>
            <p:cNvSpPr txBox="1"/>
            <p:nvPr/>
          </p:nvSpPr>
          <p:spPr>
            <a:xfrm>
              <a:off x="0" y="1401763"/>
              <a:ext cx="6648247" cy="2453488"/>
            </a:xfrm>
            <a:prstGeom prst="rect">
              <a:avLst/>
            </a:prstGeom>
          </p:spPr>
          <p:txBody>
            <a:bodyPr lIns="0" tIns="0" rIns="0" bIns="0" rtlCol="0" anchor="t">
              <a:spAutoFit/>
            </a:bodyPr>
            <a:lstStyle/>
            <a:p>
              <a:pPr algn="l">
                <a:lnSpc>
                  <a:spcPts val="2749"/>
                </a:lnSpc>
              </a:pPr>
              <a:r>
                <a:rPr lang="en-US" sz="1874">
                  <a:solidFill>
                    <a:srgbClr val="405449"/>
                  </a:solidFill>
                  <a:latin typeface="Arimo"/>
                  <a:ea typeface="Arimo"/>
                  <a:cs typeface="Arimo"/>
                  <a:sym typeface="Arimo"/>
                </a:rPr>
                <a:t>Life is unpredictable. Our "makeup" feature intelligently adjusts your Ayurvedic plan if you miss a day. This ensures flexibility, supports sustained adherence, and keeps your wellness journey realistic.</a:t>
              </a:r>
            </a:p>
          </p:txBody>
        </p:sp>
      </p:grpSp>
      <p:grpSp>
        <p:nvGrpSpPr>
          <p:cNvPr id="13" name="Group 13"/>
          <p:cNvGrpSpPr/>
          <p:nvPr/>
        </p:nvGrpSpPr>
        <p:grpSpPr>
          <a:xfrm>
            <a:off x="12104189" y="4786913"/>
            <a:ext cx="5155111" cy="3604612"/>
            <a:chOff x="0" y="0"/>
            <a:chExt cx="6873481" cy="4806150"/>
          </a:xfrm>
        </p:grpSpPr>
        <p:sp>
          <p:nvSpPr>
            <p:cNvPr id="14" name="TextBox 14"/>
            <p:cNvSpPr txBox="1"/>
            <p:nvPr/>
          </p:nvSpPr>
          <p:spPr>
            <a:xfrm>
              <a:off x="0" y="0"/>
              <a:ext cx="6873481" cy="1204912"/>
            </a:xfrm>
            <a:prstGeom prst="rect">
              <a:avLst/>
            </a:prstGeom>
          </p:spPr>
          <p:txBody>
            <a:bodyPr lIns="0" tIns="0" rIns="0" bIns="0" rtlCol="0" anchor="t">
              <a:spAutoFit/>
            </a:bodyPr>
            <a:lstStyle/>
            <a:p>
              <a:pPr algn="l">
                <a:lnSpc>
                  <a:spcPts val="3499"/>
                </a:lnSpc>
              </a:pPr>
              <a:r>
                <a:rPr lang="en-US" sz="2812" b="1">
                  <a:solidFill>
                    <a:srgbClr val="3B4540"/>
                  </a:solidFill>
                  <a:latin typeface="Fraunces Bold"/>
                  <a:ea typeface="Fraunces Bold"/>
                  <a:cs typeface="Fraunces Bold"/>
                  <a:sym typeface="Fraunces Bold"/>
                </a:rPr>
                <a:t>Symptom Detection &amp; Risk Alerts</a:t>
              </a:r>
            </a:p>
          </p:txBody>
        </p:sp>
        <p:sp>
          <p:nvSpPr>
            <p:cNvPr id="15" name="TextBox 15"/>
            <p:cNvSpPr txBox="1"/>
            <p:nvPr/>
          </p:nvSpPr>
          <p:spPr>
            <a:xfrm>
              <a:off x="0" y="1401762"/>
              <a:ext cx="6873481" cy="3404387"/>
            </a:xfrm>
            <a:prstGeom prst="rect">
              <a:avLst/>
            </a:prstGeom>
          </p:spPr>
          <p:txBody>
            <a:bodyPr lIns="0" tIns="0" rIns="0" bIns="0" rtlCol="0" anchor="t">
              <a:spAutoFit/>
            </a:bodyPr>
            <a:lstStyle/>
            <a:p>
              <a:pPr algn="l">
                <a:lnSpc>
                  <a:spcPts val="2749"/>
                </a:lnSpc>
              </a:pPr>
              <a:r>
                <a:rPr lang="en-US" sz="1874">
                  <a:solidFill>
                    <a:srgbClr val="405449"/>
                  </a:solidFill>
                  <a:latin typeface="Arimo"/>
                  <a:ea typeface="Arimo"/>
                  <a:cs typeface="Arimo"/>
                  <a:sym typeface="Arimo"/>
                </a:rPr>
                <a:t>The app analyzes recorded daily logs to identify emerging symptoms and imbalances. When patterns indicate potential health risks, automated alerts notify users with preventive recommendations, enabling early intervention before conditions escalate.</a:t>
              </a:r>
            </a:p>
          </p:txBody>
        </p:sp>
      </p:grpSp>
      <p:grpSp>
        <p:nvGrpSpPr>
          <p:cNvPr id="16" name="Group 16"/>
          <p:cNvGrpSpPr/>
          <p:nvPr/>
        </p:nvGrpSpPr>
        <p:grpSpPr>
          <a:xfrm>
            <a:off x="1028700" y="8227519"/>
            <a:ext cx="4986185" cy="1592263"/>
            <a:chOff x="0" y="0"/>
            <a:chExt cx="6648247" cy="2123017"/>
          </a:xfrm>
        </p:grpSpPr>
        <p:sp>
          <p:nvSpPr>
            <p:cNvPr id="17" name="TextBox 17"/>
            <p:cNvSpPr txBox="1"/>
            <p:nvPr/>
          </p:nvSpPr>
          <p:spPr>
            <a:xfrm>
              <a:off x="0" y="0"/>
              <a:ext cx="6648247" cy="563033"/>
            </a:xfrm>
            <a:prstGeom prst="rect">
              <a:avLst/>
            </a:prstGeom>
          </p:spPr>
          <p:txBody>
            <a:bodyPr lIns="0" tIns="0" rIns="0" bIns="0" rtlCol="0" anchor="t">
              <a:spAutoFit/>
            </a:bodyPr>
            <a:lstStyle/>
            <a:p>
              <a:pPr algn="l">
                <a:lnSpc>
                  <a:spcPts val="3499"/>
                </a:lnSpc>
              </a:pPr>
              <a:r>
                <a:rPr lang="en-US" sz="2812" b="1">
                  <a:solidFill>
                    <a:srgbClr val="3B4540"/>
                  </a:solidFill>
                  <a:latin typeface="Fraunces Bold"/>
                  <a:ea typeface="Fraunces Bold"/>
                  <a:cs typeface="Fraunces Bold"/>
                  <a:sym typeface="Fraunces Bold"/>
                </a:rPr>
                <a:t>Allergies &amp; Intolerances</a:t>
              </a:r>
            </a:p>
          </p:txBody>
        </p:sp>
        <p:sp>
          <p:nvSpPr>
            <p:cNvPr id="18" name="TextBox 18"/>
            <p:cNvSpPr txBox="1"/>
            <p:nvPr/>
          </p:nvSpPr>
          <p:spPr>
            <a:xfrm>
              <a:off x="0" y="759883"/>
              <a:ext cx="6648247" cy="1363133"/>
            </a:xfrm>
            <a:prstGeom prst="rect">
              <a:avLst/>
            </a:prstGeom>
          </p:spPr>
          <p:txBody>
            <a:bodyPr lIns="0" tIns="0" rIns="0" bIns="0" rtlCol="0" anchor="t">
              <a:spAutoFit/>
            </a:bodyPr>
            <a:lstStyle/>
            <a:p>
              <a:pPr algn="l">
                <a:lnSpc>
                  <a:spcPts val="2749"/>
                </a:lnSpc>
              </a:pPr>
              <a:r>
                <a:rPr lang="en-US" sz="1874">
                  <a:solidFill>
                    <a:srgbClr val="405449"/>
                  </a:solidFill>
                  <a:latin typeface="Arimo"/>
                  <a:ea typeface="Arimo"/>
                  <a:cs typeface="Arimo"/>
                  <a:sym typeface="Arimo"/>
                </a:rPr>
                <a:t>Users can input specific dietary restrictions ensuring recommandations are always safe and suitable.</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1F2DE"/>
            </a:solidFill>
            <a:ln w="12700">
              <a:solidFill>
                <a:srgbClr val="000000"/>
              </a:solidFill>
            </a:ln>
          </p:spPr>
          <p:txBody>
            <a:bodyPr/>
            <a:lstStyle/>
            <a:p>
              <a:endParaRPr lang="en-IN"/>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CFBF8"/>
            </a:solidFill>
            <a:ln w="12700">
              <a:solidFill>
                <a:srgbClr val="000000"/>
              </a:solidFill>
            </a:ln>
          </p:spPr>
          <p:txBody>
            <a:bodyPr/>
            <a:lstStyle/>
            <a:p>
              <a:endParaRPr lang="en-IN"/>
            </a:p>
          </p:txBody>
        </p:sp>
      </p:grpSp>
      <p:sp>
        <p:nvSpPr>
          <p:cNvPr id="6" name="TextBox 6"/>
          <p:cNvSpPr txBox="1"/>
          <p:nvPr/>
        </p:nvSpPr>
        <p:spPr>
          <a:xfrm>
            <a:off x="992238" y="1294657"/>
            <a:ext cx="10202018" cy="914552"/>
          </a:xfrm>
          <a:prstGeom prst="rect">
            <a:avLst/>
          </a:prstGeom>
        </p:spPr>
        <p:txBody>
          <a:bodyPr lIns="0" tIns="0" rIns="0" bIns="0" rtlCol="0" anchor="t">
            <a:spAutoFit/>
          </a:bodyPr>
          <a:lstStyle/>
          <a:p>
            <a:pPr algn="l">
              <a:lnSpc>
                <a:spcPts val="6937"/>
              </a:lnSpc>
            </a:pPr>
            <a:r>
              <a:rPr lang="en-US" sz="5562">
                <a:solidFill>
                  <a:srgbClr val="233E32"/>
                </a:solidFill>
                <a:latin typeface="Alice"/>
                <a:ea typeface="Alice"/>
                <a:cs typeface="Alice"/>
                <a:sym typeface="Alice"/>
              </a:rPr>
              <a:t>Social &amp; Clinical Impact at Scale</a:t>
            </a:r>
          </a:p>
        </p:txBody>
      </p:sp>
      <p:sp>
        <p:nvSpPr>
          <p:cNvPr id="7" name="TextBox 7"/>
          <p:cNvSpPr txBox="1"/>
          <p:nvPr/>
        </p:nvSpPr>
        <p:spPr>
          <a:xfrm>
            <a:off x="1914973" y="2974477"/>
            <a:ext cx="3950646" cy="471487"/>
          </a:xfrm>
          <a:prstGeom prst="rect">
            <a:avLst/>
          </a:prstGeom>
        </p:spPr>
        <p:txBody>
          <a:bodyPr lIns="0" tIns="0" rIns="0" bIns="0" rtlCol="0" anchor="t">
            <a:spAutoFit/>
          </a:bodyPr>
          <a:lstStyle/>
          <a:p>
            <a:pPr algn="r">
              <a:lnSpc>
                <a:spcPts val="3437"/>
              </a:lnSpc>
            </a:pPr>
            <a:r>
              <a:rPr lang="en-US" sz="2750">
                <a:solidFill>
                  <a:srgbClr val="2C2821"/>
                </a:solidFill>
                <a:latin typeface="Alice"/>
                <a:ea typeface="Alice"/>
                <a:cs typeface="Alice"/>
                <a:sym typeface="Alice"/>
              </a:rPr>
              <a:t>Democratizing Ayurveda</a:t>
            </a:r>
          </a:p>
        </p:txBody>
      </p:sp>
      <p:sp>
        <p:nvSpPr>
          <p:cNvPr id="8" name="TextBox 8"/>
          <p:cNvSpPr txBox="1"/>
          <p:nvPr/>
        </p:nvSpPr>
        <p:spPr>
          <a:xfrm>
            <a:off x="992238" y="3530356"/>
            <a:ext cx="4873381" cy="1309688"/>
          </a:xfrm>
          <a:prstGeom prst="rect">
            <a:avLst/>
          </a:prstGeom>
        </p:spPr>
        <p:txBody>
          <a:bodyPr lIns="0" tIns="0" rIns="0" bIns="0" rtlCol="0" anchor="t">
            <a:spAutoFit/>
          </a:bodyPr>
          <a:lstStyle/>
          <a:p>
            <a:pPr algn="r">
              <a:lnSpc>
                <a:spcPts val="3562"/>
              </a:lnSpc>
            </a:pPr>
            <a:r>
              <a:rPr lang="en-US" sz="2187">
                <a:solidFill>
                  <a:srgbClr val="2C2821"/>
                </a:solidFill>
                <a:latin typeface="Lora"/>
                <a:ea typeface="Lora"/>
                <a:cs typeface="Lora"/>
                <a:sym typeface="Lora"/>
              </a:rPr>
              <a:t>Most Indians can't afford Vaidya consultations . Ayushya offers Vaidya wisdom to a larger audience.</a:t>
            </a:r>
          </a:p>
        </p:txBody>
      </p:sp>
      <p:sp>
        <p:nvSpPr>
          <p:cNvPr id="9" name="TextBox 9"/>
          <p:cNvSpPr txBox="1"/>
          <p:nvPr/>
        </p:nvSpPr>
        <p:spPr>
          <a:xfrm>
            <a:off x="12422238" y="2747667"/>
            <a:ext cx="4325693" cy="471487"/>
          </a:xfrm>
          <a:prstGeom prst="rect">
            <a:avLst/>
          </a:prstGeom>
        </p:spPr>
        <p:txBody>
          <a:bodyPr lIns="0" tIns="0" rIns="0" bIns="0" rtlCol="0" anchor="t">
            <a:spAutoFit/>
          </a:bodyPr>
          <a:lstStyle/>
          <a:p>
            <a:pPr algn="l">
              <a:lnSpc>
                <a:spcPts val="3437"/>
              </a:lnSpc>
            </a:pPr>
            <a:r>
              <a:rPr lang="en-US" sz="2750">
                <a:solidFill>
                  <a:srgbClr val="2C2821"/>
                </a:solidFill>
                <a:latin typeface="Alice"/>
                <a:ea typeface="Alice"/>
                <a:cs typeface="Alice"/>
                <a:sym typeface="Alice"/>
              </a:rPr>
              <a:t>AYUSH Ministry Alignment</a:t>
            </a:r>
          </a:p>
        </p:txBody>
      </p:sp>
      <p:sp>
        <p:nvSpPr>
          <p:cNvPr id="10" name="TextBox 10"/>
          <p:cNvSpPr txBox="1"/>
          <p:nvPr/>
        </p:nvSpPr>
        <p:spPr>
          <a:xfrm>
            <a:off x="12422238" y="3303537"/>
            <a:ext cx="4873523" cy="2353866"/>
          </a:xfrm>
          <a:prstGeom prst="rect">
            <a:avLst/>
          </a:prstGeom>
        </p:spPr>
        <p:txBody>
          <a:bodyPr lIns="0" tIns="0" rIns="0" bIns="0" rtlCol="0" anchor="t">
            <a:spAutoFit/>
          </a:bodyPr>
          <a:lstStyle/>
          <a:p>
            <a:pPr algn="l">
              <a:lnSpc>
                <a:spcPts val="3562"/>
              </a:lnSpc>
            </a:pPr>
            <a:r>
              <a:rPr lang="en-US" sz="2187">
                <a:solidFill>
                  <a:srgbClr val="2C2821"/>
                </a:solidFill>
                <a:latin typeface="Lora"/>
                <a:ea typeface="Lora"/>
                <a:cs typeface="Lora"/>
                <a:sym typeface="Lora"/>
              </a:rPr>
              <a:t>Government promotes Ayurveda + technology integration. Ayushya: "Make Ayurveda Modern" initiative. Potential government integration + funding.</a:t>
            </a:r>
          </a:p>
        </p:txBody>
      </p:sp>
      <p:sp>
        <p:nvSpPr>
          <p:cNvPr id="11" name="TextBox 11"/>
          <p:cNvSpPr txBox="1"/>
          <p:nvPr/>
        </p:nvSpPr>
        <p:spPr>
          <a:xfrm>
            <a:off x="12422238" y="6054033"/>
            <a:ext cx="3985622" cy="471487"/>
          </a:xfrm>
          <a:prstGeom prst="rect">
            <a:avLst/>
          </a:prstGeom>
        </p:spPr>
        <p:txBody>
          <a:bodyPr lIns="0" tIns="0" rIns="0" bIns="0" rtlCol="0" anchor="t">
            <a:spAutoFit/>
          </a:bodyPr>
          <a:lstStyle/>
          <a:p>
            <a:pPr algn="l">
              <a:lnSpc>
                <a:spcPts val="3437"/>
              </a:lnSpc>
            </a:pPr>
            <a:r>
              <a:rPr lang="en-US" sz="2750">
                <a:solidFill>
                  <a:srgbClr val="2C2821"/>
                </a:solidFill>
                <a:latin typeface="Alice"/>
                <a:ea typeface="Alice"/>
                <a:cs typeface="Alice"/>
                <a:sym typeface="Alice"/>
              </a:rPr>
              <a:t>Clinic Finder Partnership</a:t>
            </a:r>
          </a:p>
        </p:txBody>
      </p:sp>
      <p:sp>
        <p:nvSpPr>
          <p:cNvPr id="12" name="TextBox 12"/>
          <p:cNvSpPr txBox="1"/>
          <p:nvPr/>
        </p:nvSpPr>
        <p:spPr>
          <a:xfrm>
            <a:off x="12422238" y="6609902"/>
            <a:ext cx="4873523" cy="2353866"/>
          </a:xfrm>
          <a:prstGeom prst="rect">
            <a:avLst/>
          </a:prstGeom>
        </p:spPr>
        <p:txBody>
          <a:bodyPr lIns="0" tIns="0" rIns="0" bIns="0" rtlCol="0" anchor="t">
            <a:spAutoFit/>
          </a:bodyPr>
          <a:lstStyle/>
          <a:p>
            <a:pPr algn="l">
              <a:lnSpc>
                <a:spcPts val="3562"/>
              </a:lnSpc>
            </a:pPr>
            <a:r>
              <a:rPr lang="en-US" sz="2187">
                <a:solidFill>
                  <a:srgbClr val="2C2821"/>
                </a:solidFill>
                <a:latin typeface="Lora"/>
                <a:ea typeface="Lora"/>
                <a:cs typeface="Lora"/>
                <a:sym typeface="Lora"/>
              </a:rPr>
              <a:t>Connects users to verified Ayurveda practitioners. Practitioners get patient data (with consent) for better care. Addresses clinic authenticity challenge.</a:t>
            </a:r>
          </a:p>
        </p:txBody>
      </p:sp>
      <p:sp>
        <p:nvSpPr>
          <p:cNvPr id="13" name="TextBox 13"/>
          <p:cNvSpPr txBox="1"/>
          <p:nvPr/>
        </p:nvSpPr>
        <p:spPr>
          <a:xfrm>
            <a:off x="1518647" y="6054033"/>
            <a:ext cx="4346972" cy="471487"/>
          </a:xfrm>
          <a:prstGeom prst="rect">
            <a:avLst/>
          </a:prstGeom>
        </p:spPr>
        <p:txBody>
          <a:bodyPr lIns="0" tIns="0" rIns="0" bIns="0" rtlCol="0" anchor="t">
            <a:spAutoFit/>
          </a:bodyPr>
          <a:lstStyle/>
          <a:p>
            <a:pPr algn="r">
              <a:lnSpc>
                <a:spcPts val="3437"/>
              </a:lnSpc>
            </a:pPr>
            <a:r>
              <a:rPr lang="en-US" sz="2750">
                <a:solidFill>
                  <a:srgbClr val="2C2821"/>
                </a:solidFill>
                <a:latin typeface="Alice"/>
                <a:ea typeface="Alice"/>
                <a:cs typeface="Alice"/>
                <a:sym typeface="Alice"/>
              </a:rPr>
              <a:t>Sustainable Business Model</a:t>
            </a:r>
          </a:p>
        </p:txBody>
      </p:sp>
      <p:sp>
        <p:nvSpPr>
          <p:cNvPr id="14" name="TextBox 14"/>
          <p:cNvSpPr txBox="1"/>
          <p:nvPr/>
        </p:nvSpPr>
        <p:spPr>
          <a:xfrm>
            <a:off x="992238" y="6609902"/>
            <a:ext cx="4873381" cy="1757363"/>
          </a:xfrm>
          <a:prstGeom prst="rect">
            <a:avLst/>
          </a:prstGeom>
        </p:spPr>
        <p:txBody>
          <a:bodyPr lIns="0" tIns="0" rIns="0" bIns="0" rtlCol="0" anchor="t">
            <a:spAutoFit/>
          </a:bodyPr>
          <a:lstStyle/>
          <a:p>
            <a:pPr algn="r">
              <a:lnSpc>
                <a:spcPts val="3562"/>
              </a:lnSpc>
            </a:pPr>
            <a:r>
              <a:rPr lang="en-US" sz="2187">
                <a:solidFill>
                  <a:srgbClr val="2C2821"/>
                </a:solidFill>
                <a:latin typeface="Lora"/>
                <a:ea typeface="Lora"/>
                <a:cs typeface="Lora"/>
                <a:sym typeface="Lora"/>
              </a:rPr>
              <a:t>Freemium basic Dosha profiling free. Paid personalized recs + AI chatbot + clinic finder . B2B health insurance, corporate wellness partnerships.</a:t>
            </a:r>
          </a:p>
        </p:txBody>
      </p:sp>
      <p:grpSp>
        <p:nvGrpSpPr>
          <p:cNvPr id="15" name="Group 15"/>
          <p:cNvGrpSpPr/>
          <p:nvPr/>
        </p:nvGrpSpPr>
        <p:grpSpPr>
          <a:xfrm>
            <a:off x="6290815" y="3016891"/>
            <a:ext cx="5706218" cy="5706218"/>
            <a:chOff x="0" y="0"/>
            <a:chExt cx="7608291" cy="7608291"/>
          </a:xfrm>
        </p:grpSpPr>
        <p:sp>
          <p:nvSpPr>
            <p:cNvPr id="16" name="Freeform 16"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3"/>
              <a:stretch>
                <a:fillRect/>
              </a:stretch>
            </a:blipFill>
          </p:spPr>
          <p:txBody>
            <a:bodyPr/>
            <a:lstStyle/>
            <a:p>
              <a:endParaRPr lang="en-IN"/>
            </a:p>
          </p:txBody>
        </p:sp>
      </p:grpSp>
      <p:sp>
        <p:nvSpPr>
          <p:cNvPr id="17" name="Freeform 17" descr="preencoded.png"/>
          <p:cNvSpPr/>
          <p:nvPr/>
        </p:nvSpPr>
        <p:spPr>
          <a:xfrm>
            <a:off x="7519540" y="4245473"/>
            <a:ext cx="424158" cy="424158"/>
          </a:xfrm>
          <a:custGeom>
            <a:avLst/>
            <a:gdLst/>
            <a:ahLst/>
            <a:cxnLst/>
            <a:rect l="l" t="t" r="r" b="b"/>
            <a:pathLst>
              <a:path w="424158" h="424158">
                <a:moveTo>
                  <a:pt x="0" y="0"/>
                </a:moveTo>
                <a:lnTo>
                  <a:pt x="424158" y="0"/>
                </a:lnTo>
                <a:lnTo>
                  <a:pt x="424158" y="424158"/>
                </a:lnTo>
                <a:lnTo>
                  <a:pt x="0" y="424158"/>
                </a:lnTo>
                <a:lnTo>
                  <a:pt x="0" y="0"/>
                </a:lnTo>
                <a:close/>
              </a:path>
            </a:pathLst>
          </a:custGeom>
          <a:blipFill>
            <a:blip>
              <a:extLst>
                <a:ext uri="{96DAC541-7B7A-43D3-8B79-37D633B846F1}">
                  <asvg:svgBlip xmlns:asvg="http://schemas.microsoft.com/office/drawing/2016/SVG/main" r:embed="rId4"/>
                </a:ext>
              </a:extLst>
            </a:blip>
            <a:stretch>
              <a:fillRect t="-1111" b="-1111"/>
            </a:stretch>
          </a:blipFill>
        </p:spPr>
        <p:txBody>
          <a:bodyPr/>
          <a:lstStyle/>
          <a:p>
            <a:endParaRPr lang="en-IN"/>
          </a:p>
        </p:txBody>
      </p:sp>
      <p:grpSp>
        <p:nvGrpSpPr>
          <p:cNvPr id="18" name="Group 18"/>
          <p:cNvGrpSpPr/>
          <p:nvPr/>
        </p:nvGrpSpPr>
        <p:grpSpPr>
          <a:xfrm>
            <a:off x="6290815" y="3016891"/>
            <a:ext cx="5706218" cy="5706218"/>
            <a:chOff x="0" y="0"/>
            <a:chExt cx="7608291" cy="7608291"/>
          </a:xfrm>
        </p:grpSpPr>
        <p:sp>
          <p:nvSpPr>
            <p:cNvPr id="19" name="Freeform 19"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5"/>
              <a:stretch>
                <a:fillRect/>
              </a:stretch>
            </a:blipFill>
          </p:spPr>
          <p:txBody>
            <a:bodyPr/>
            <a:lstStyle/>
            <a:p>
              <a:endParaRPr lang="en-IN"/>
            </a:p>
          </p:txBody>
        </p:sp>
      </p:grpSp>
      <p:sp>
        <p:nvSpPr>
          <p:cNvPr id="20" name="Freeform 20" descr="preencoded.png"/>
          <p:cNvSpPr/>
          <p:nvPr/>
        </p:nvSpPr>
        <p:spPr>
          <a:xfrm>
            <a:off x="10343998" y="4245473"/>
            <a:ext cx="424158" cy="424158"/>
          </a:xfrm>
          <a:custGeom>
            <a:avLst/>
            <a:gdLst/>
            <a:ahLst/>
            <a:cxnLst/>
            <a:rect l="l" t="t" r="r" b="b"/>
            <a:pathLst>
              <a:path w="424158" h="424158">
                <a:moveTo>
                  <a:pt x="0" y="0"/>
                </a:moveTo>
                <a:lnTo>
                  <a:pt x="424157" y="0"/>
                </a:lnTo>
                <a:lnTo>
                  <a:pt x="424157" y="424158"/>
                </a:lnTo>
                <a:lnTo>
                  <a:pt x="0" y="424158"/>
                </a:lnTo>
                <a:lnTo>
                  <a:pt x="0" y="0"/>
                </a:lnTo>
                <a:close/>
              </a:path>
            </a:pathLst>
          </a:custGeom>
          <a:blipFill>
            <a:blip>
              <a:extLst>
                <a:ext uri="{96DAC541-7B7A-43D3-8B79-37D633B846F1}">
                  <asvg:svgBlip xmlns:asvg="http://schemas.microsoft.com/office/drawing/2016/SVG/main" r:embed="rId6"/>
                </a:ext>
              </a:extLst>
            </a:blip>
            <a:stretch>
              <a:fillRect l="-3332" r="-3334"/>
            </a:stretch>
          </a:blipFill>
        </p:spPr>
        <p:txBody>
          <a:bodyPr/>
          <a:lstStyle/>
          <a:p>
            <a:endParaRPr lang="en-IN"/>
          </a:p>
        </p:txBody>
      </p:sp>
      <p:grpSp>
        <p:nvGrpSpPr>
          <p:cNvPr id="21" name="Group 21"/>
          <p:cNvGrpSpPr/>
          <p:nvPr/>
        </p:nvGrpSpPr>
        <p:grpSpPr>
          <a:xfrm>
            <a:off x="6290815" y="3016891"/>
            <a:ext cx="5706218" cy="5706218"/>
            <a:chOff x="0" y="0"/>
            <a:chExt cx="7608291" cy="7608291"/>
          </a:xfrm>
        </p:grpSpPr>
        <p:sp>
          <p:nvSpPr>
            <p:cNvPr id="22" name="Freeform 22"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7"/>
              <a:stretch>
                <a:fillRect/>
              </a:stretch>
            </a:blipFill>
          </p:spPr>
          <p:txBody>
            <a:bodyPr/>
            <a:lstStyle/>
            <a:p>
              <a:endParaRPr lang="en-IN"/>
            </a:p>
          </p:txBody>
        </p:sp>
      </p:grpSp>
      <p:sp>
        <p:nvSpPr>
          <p:cNvPr id="23" name="Freeform 23" descr="preencoded.png"/>
          <p:cNvSpPr/>
          <p:nvPr/>
        </p:nvSpPr>
        <p:spPr>
          <a:xfrm>
            <a:off x="10343998" y="7069931"/>
            <a:ext cx="424158" cy="424158"/>
          </a:xfrm>
          <a:custGeom>
            <a:avLst/>
            <a:gdLst/>
            <a:ahLst/>
            <a:cxnLst/>
            <a:rect l="l" t="t" r="r" b="b"/>
            <a:pathLst>
              <a:path w="424158" h="424158">
                <a:moveTo>
                  <a:pt x="0" y="0"/>
                </a:moveTo>
                <a:lnTo>
                  <a:pt x="424157" y="0"/>
                </a:lnTo>
                <a:lnTo>
                  <a:pt x="424157" y="424158"/>
                </a:lnTo>
                <a:lnTo>
                  <a:pt x="0" y="424158"/>
                </a:lnTo>
                <a:lnTo>
                  <a:pt x="0" y="0"/>
                </a:lnTo>
                <a:close/>
              </a:path>
            </a:pathLst>
          </a:custGeom>
          <a:blipFill>
            <a:blip>
              <a:extLst>
                <a:ext uri="{96DAC541-7B7A-43D3-8B79-37D633B846F1}">
                  <asvg:svgBlip xmlns:asvg="http://schemas.microsoft.com/office/drawing/2016/SVG/main" r:embed="rId8"/>
                </a:ext>
              </a:extLst>
            </a:blip>
            <a:stretch>
              <a:fillRect t="-4444" b="-4446"/>
            </a:stretch>
          </a:blipFill>
        </p:spPr>
        <p:txBody>
          <a:bodyPr/>
          <a:lstStyle/>
          <a:p>
            <a:endParaRPr lang="en-IN"/>
          </a:p>
        </p:txBody>
      </p:sp>
      <p:grpSp>
        <p:nvGrpSpPr>
          <p:cNvPr id="24" name="Group 24"/>
          <p:cNvGrpSpPr/>
          <p:nvPr/>
        </p:nvGrpSpPr>
        <p:grpSpPr>
          <a:xfrm>
            <a:off x="6290815" y="3016891"/>
            <a:ext cx="5706218" cy="5706218"/>
            <a:chOff x="0" y="0"/>
            <a:chExt cx="7608291" cy="7608291"/>
          </a:xfrm>
        </p:grpSpPr>
        <p:sp>
          <p:nvSpPr>
            <p:cNvPr id="25" name="Freeform 25"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9"/>
              <a:stretch>
                <a:fillRect/>
              </a:stretch>
            </a:blipFill>
          </p:spPr>
          <p:txBody>
            <a:bodyPr/>
            <a:lstStyle/>
            <a:p>
              <a:endParaRPr lang="en-IN"/>
            </a:p>
          </p:txBody>
        </p:sp>
      </p:grpSp>
      <p:sp>
        <p:nvSpPr>
          <p:cNvPr id="26" name="Freeform 26" descr="preencoded.png"/>
          <p:cNvSpPr/>
          <p:nvPr/>
        </p:nvSpPr>
        <p:spPr>
          <a:xfrm>
            <a:off x="7519540" y="7069931"/>
            <a:ext cx="424158" cy="424158"/>
          </a:xfrm>
          <a:custGeom>
            <a:avLst/>
            <a:gdLst/>
            <a:ahLst/>
            <a:cxnLst/>
            <a:rect l="l" t="t" r="r" b="b"/>
            <a:pathLst>
              <a:path w="424158" h="424158">
                <a:moveTo>
                  <a:pt x="0" y="0"/>
                </a:moveTo>
                <a:lnTo>
                  <a:pt x="424158" y="0"/>
                </a:lnTo>
                <a:lnTo>
                  <a:pt x="424158" y="424158"/>
                </a:lnTo>
                <a:lnTo>
                  <a:pt x="0" y="424158"/>
                </a:lnTo>
                <a:lnTo>
                  <a:pt x="0" y="0"/>
                </a:lnTo>
                <a:close/>
              </a:path>
            </a:pathLst>
          </a:custGeom>
          <a:blipFill>
            <a:blip>
              <a:extLst>
                <a:ext uri="{96DAC541-7B7A-43D3-8B79-37D633B846F1}">
                  <asvg:svgBlip xmlns:asvg="http://schemas.microsoft.com/office/drawing/2016/SVG/main" r:embed="rId10"/>
                </a:ext>
              </a:extLst>
            </a:blip>
            <a:stretch>
              <a:fillRect l="-17778" r="-17778"/>
            </a:stretch>
          </a:blipFill>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670</Words>
  <Application>Microsoft Office PowerPoint</Application>
  <PresentationFormat>Custom</PresentationFormat>
  <Paragraphs>104</Paragraphs>
  <Slides>9</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Arimo</vt:lpstr>
      <vt:lpstr>Arial</vt:lpstr>
      <vt:lpstr>Alice Bold</vt:lpstr>
      <vt:lpstr>Fraunces Bold</vt:lpstr>
      <vt:lpstr>Alice</vt:lpstr>
      <vt:lpstr>Lora</vt:lpstr>
      <vt:lpstr>Lora Bold</vt:lpstr>
      <vt:lpstr>Arimo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AI-powered-Ayurvedic-Prakriti-Satmya-Intelligence (1).pptx</dc:title>
  <dc:creator>shivli dimri</dc:creator>
  <cp:lastModifiedBy>shivli dimri</cp:lastModifiedBy>
  <cp:revision>1</cp:revision>
  <dcterms:created xsi:type="dcterms:W3CDTF">2006-08-16T00:00:00Z</dcterms:created>
  <dcterms:modified xsi:type="dcterms:W3CDTF">2026-04-16T23:32:40Z</dcterms:modified>
  <dc:identifier>DAHAC9SoORY</dc:identifier>
</cp:coreProperties>
</file>